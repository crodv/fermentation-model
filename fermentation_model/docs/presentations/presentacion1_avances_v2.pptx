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5"/>
  </p:notesMasterIdLst>
  <p:sldIdLst>
    <p:sldId id="311" r:id="rId5"/>
    <p:sldId id="386" r:id="rId6"/>
    <p:sldId id="392" r:id="rId7"/>
    <p:sldId id="391" r:id="rId8"/>
    <p:sldId id="393" r:id="rId9"/>
    <p:sldId id="390" r:id="rId10"/>
    <p:sldId id="394" r:id="rId11"/>
    <p:sldId id="389" r:id="rId12"/>
    <p:sldId id="388" r:id="rId13"/>
    <p:sldId id="387" r:id="rId14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Lato Black" panose="020F0502020204030203" pitchFamily="34" charset="0"/>
      <p:bold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081">
          <p15:clr>
            <a:srgbClr val="9AA0A6"/>
          </p15:clr>
        </p15:guide>
        <p15:guide id="4" pos="170">
          <p15:clr>
            <a:srgbClr val="9AA0A6"/>
          </p15:clr>
        </p15:guide>
        <p15:guide id="5" orient="horz" pos="159">
          <p15:clr>
            <a:srgbClr val="9AA0A6"/>
          </p15:clr>
        </p15:guide>
        <p15:guide id="6" pos="5590">
          <p15:clr>
            <a:srgbClr val="9AA0A6"/>
          </p15:clr>
        </p15:guide>
        <p15:guide id="7" pos="595">
          <p15:clr>
            <a:srgbClr val="9AA0A6"/>
          </p15:clr>
        </p15:guide>
        <p15:guide id="8" pos="5171">
          <p15:clr>
            <a:srgbClr val="9AA0A6"/>
          </p15:clr>
        </p15:guide>
        <p15:guide id="9" pos="4479">
          <p15:clr>
            <a:srgbClr val="9AA0A6"/>
          </p15:clr>
        </p15:guide>
        <p15:guide id="10" orient="horz" pos="2891">
          <p15:clr>
            <a:srgbClr val="9AA0A6"/>
          </p15:clr>
        </p15:guide>
        <p15:guide id="11" orient="horz" pos="2778">
          <p15:clr>
            <a:srgbClr val="9AA0A6"/>
          </p15:clr>
        </p15:guide>
        <p15:guide id="12" pos="941">
          <p15:clr>
            <a:srgbClr val="9AA0A6"/>
          </p15:clr>
        </p15:guide>
        <p15:guide id="13" orient="horz" pos="718">
          <p15:clr>
            <a:srgbClr val="9AA0A6"/>
          </p15:clr>
        </p15:guide>
        <p15:guide id="14" orient="horz" pos="2510">
          <p15:clr>
            <a:srgbClr val="9AA0A6"/>
          </p15:clr>
        </p15:guide>
        <p15:guide id="15" pos="2721">
          <p15:clr>
            <a:srgbClr val="9AA0A6"/>
          </p15:clr>
        </p15:guide>
        <p15:guide id="16" orient="horz" pos="590">
          <p15:clr>
            <a:srgbClr val="9AA0A6"/>
          </p15:clr>
        </p15:guide>
        <p15:guide id="17" orient="horz" pos="357">
          <p15:clr>
            <a:srgbClr val="9AA0A6"/>
          </p15:clr>
        </p15:guide>
        <p15:guide id="18" orient="horz" pos="902">
          <p15:clr>
            <a:srgbClr val="9AA0A6"/>
          </p15:clr>
        </p15:guide>
        <p15:guide id="19" orient="horz" pos="510">
          <p15:clr>
            <a:srgbClr val="9AA0A6"/>
          </p15:clr>
        </p15:guide>
        <p15:guide id="20" pos="2380">
          <p15:clr>
            <a:srgbClr val="9AA0A6"/>
          </p15:clr>
        </p15:guide>
        <p15:guide id="21" pos="2563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EF9B"/>
    <a:srgbClr val="00CC66"/>
    <a:srgbClr val="FFF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EDC999-D7B0-4180-BC0A-7F948640C0C9}" v="1" dt="2026-04-28T21:03:50.747"/>
  </p1510:revLst>
</p1510:revInfo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0" autoAdjust="0"/>
    <p:restoredTop sz="95033" autoAdjust="0"/>
  </p:normalViewPr>
  <p:slideViewPr>
    <p:cSldViewPr snapToGrid="0">
      <p:cViewPr varScale="1">
        <p:scale>
          <a:sx n="104" d="100"/>
          <a:sy n="104" d="100"/>
        </p:scale>
        <p:origin x="691" y="72"/>
      </p:cViewPr>
      <p:guideLst>
        <p:guide orient="horz" pos="1620"/>
        <p:guide pos="2880"/>
        <p:guide orient="horz" pos="3081"/>
        <p:guide pos="170"/>
        <p:guide orient="horz" pos="159"/>
        <p:guide pos="5590"/>
        <p:guide pos="595"/>
        <p:guide pos="5171"/>
        <p:guide pos="4479"/>
        <p:guide orient="horz" pos="2891"/>
        <p:guide orient="horz" pos="2778"/>
        <p:guide pos="941"/>
        <p:guide orient="horz" pos="718"/>
        <p:guide orient="horz" pos="2510"/>
        <p:guide pos="2721"/>
        <p:guide orient="horz" pos="590"/>
        <p:guide orient="horz" pos="357"/>
        <p:guide orient="horz" pos="902"/>
        <p:guide orient="horz" pos="510"/>
        <p:guide pos="2380"/>
        <p:guide pos="25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8" d="100"/>
        <a:sy n="68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9741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CF2BB44-FAD6-5500-0F0B-D9FD6D3E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7dc0ec307_0_270:notes">
            <a:extLst>
              <a:ext uri="{FF2B5EF4-FFF2-40B4-BE49-F238E27FC236}">
                <a16:creationId xmlns:a16="http://schemas.microsoft.com/office/drawing/2014/main" id="{A52FC182-827D-4457-41BF-47DA9BD6A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b7dc0ec307_0_270:notes">
            <a:extLst>
              <a:ext uri="{FF2B5EF4-FFF2-40B4-BE49-F238E27FC236}">
                <a16:creationId xmlns:a16="http://schemas.microsoft.com/office/drawing/2014/main" id="{319E47DE-A377-C466-AC74-BFAEE749D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131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CF2BB44-FAD6-5500-0F0B-D9FD6D3E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7dc0ec307_0_270:notes">
            <a:extLst>
              <a:ext uri="{FF2B5EF4-FFF2-40B4-BE49-F238E27FC236}">
                <a16:creationId xmlns:a16="http://schemas.microsoft.com/office/drawing/2014/main" id="{A52FC182-827D-4457-41BF-47DA9BD6A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b7dc0ec307_0_270:notes">
            <a:extLst>
              <a:ext uri="{FF2B5EF4-FFF2-40B4-BE49-F238E27FC236}">
                <a16:creationId xmlns:a16="http://schemas.microsoft.com/office/drawing/2014/main" id="{319E47DE-A377-C466-AC74-BFAEE749D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131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CF2BB44-FAD6-5500-0F0B-D9FD6D3E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7dc0ec307_0_270:notes">
            <a:extLst>
              <a:ext uri="{FF2B5EF4-FFF2-40B4-BE49-F238E27FC236}">
                <a16:creationId xmlns:a16="http://schemas.microsoft.com/office/drawing/2014/main" id="{A52FC182-827D-4457-41BF-47DA9BD6A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b7dc0ec307_0_270:notes">
            <a:extLst>
              <a:ext uri="{FF2B5EF4-FFF2-40B4-BE49-F238E27FC236}">
                <a16:creationId xmlns:a16="http://schemas.microsoft.com/office/drawing/2014/main" id="{319E47DE-A377-C466-AC74-BFAEE749D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131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CF2BB44-FAD6-5500-0F0B-D9FD6D3E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7dc0ec307_0_270:notes">
            <a:extLst>
              <a:ext uri="{FF2B5EF4-FFF2-40B4-BE49-F238E27FC236}">
                <a16:creationId xmlns:a16="http://schemas.microsoft.com/office/drawing/2014/main" id="{A52FC182-827D-4457-41BF-47DA9BD6A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b7dc0ec307_0_270:notes">
            <a:extLst>
              <a:ext uri="{FF2B5EF4-FFF2-40B4-BE49-F238E27FC236}">
                <a16:creationId xmlns:a16="http://schemas.microsoft.com/office/drawing/2014/main" id="{319E47DE-A377-C466-AC74-BFAEE749D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131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CF2BB44-FAD6-5500-0F0B-D9FD6D3E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7dc0ec307_0_270:notes">
            <a:extLst>
              <a:ext uri="{FF2B5EF4-FFF2-40B4-BE49-F238E27FC236}">
                <a16:creationId xmlns:a16="http://schemas.microsoft.com/office/drawing/2014/main" id="{A52FC182-827D-4457-41BF-47DA9BD6A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b7dc0ec307_0_270:notes">
            <a:extLst>
              <a:ext uri="{FF2B5EF4-FFF2-40B4-BE49-F238E27FC236}">
                <a16:creationId xmlns:a16="http://schemas.microsoft.com/office/drawing/2014/main" id="{319E47DE-A377-C466-AC74-BFAEE749D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131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CF2BB44-FAD6-5500-0F0B-D9FD6D3E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7dc0ec307_0_270:notes">
            <a:extLst>
              <a:ext uri="{FF2B5EF4-FFF2-40B4-BE49-F238E27FC236}">
                <a16:creationId xmlns:a16="http://schemas.microsoft.com/office/drawing/2014/main" id="{A52FC182-827D-4457-41BF-47DA9BD6A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b7dc0ec307_0_270:notes">
            <a:extLst>
              <a:ext uri="{FF2B5EF4-FFF2-40B4-BE49-F238E27FC236}">
                <a16:creationId xmlns:a16="http://schemas.microsoft.com/office/drawing/2014/main" id="{319E47DE-A377-C466-AC74-BFAEE749D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131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CF2BB44-FAD6-5500-0F0B-D9FD6D3E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7dc0ec307_0_270:notes">
            <a:extLst>
              <a:ext uri="{FF2B5EF4-FFF2-40B4-BE49-F238E27FC236}">
                <a16:creationId xmlns:a16="http://schemas.microsoft.com/office/drawing/2014/main" id="{A52FC182-827D-4457-41BF-47DA9BD6A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b7dc0ec307_0_270:notes">
            <a:extLst>
              <a:ext uri="{FF2B5EF4-FFF2-40B4-BE49-F238E27FC236}">
                <a16:creationId xmlns:a16="http://schemas.microsoft.com/office/drawing/2014/main" id="{319E47DE-A377-C466-AC74-BFAEE749D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131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CF2BB44-FAD6-5500-0F0B-D9FD6D3E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7dc0ec307_0_270:notes">
            <a:extLst>
              <a:ext uri="{FF2B5EF4-FFF2-40B4-BE49-F238E27FC236}">
                <a16:creationId xmlns:a16="http://schemas.microsoft.com/office/drawing/2014/main" id="{A52FC182-827D-4457-41BF-47DA9BD6A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b7dc0ec307_0_270:notes">
            <a:extLst>
              <a:ext uri="{FF2B5EF4-FFF2-40B4-BE49-F238E27FC236}">
                <a16:creationId xmlns:a16="http://schemas.microsoft.com/office/drawing/2014/main" id="{319E47DE-A377-C466-AC74-BFAEE749D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131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CF2BB44-FAD6-5500-0F0B-D9FD6D3E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7dc0ec307_0_270:notes">
            <a:extLst>
              <a:ext uri="{FF2B5EF4-FFF2-40B4-BE49-F238E27FC236}">
                <a16:creationId xmlns:a16="http://schemas.microsoft.com/office/drawing/2014/main" id="{A52FC182-827D-4457-41BF-47DA9BD6A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b7dc0ec307_0_270:notes">
            <a:extLst>
              <a:ext uri="{FF2B5EF4-FFF2-40B4-BE49-F238E27FC236}">
                <a16:creationId xmlns:a16="http://schemas.microsoft.com/office/drawing/2014/main" id="{319E47DE-A377-C466-AC74-BFAEE749D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131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3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3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7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1.png"/><Relationship Id="rId7" Type="http://schemas.openxmlformats.org/officeDocument/2006/relationships/image" Target="../media/image2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800" y="4420451"/>
            <a:ext cx="1717349" cy="3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0300" y="4331924"/>
            <a:ext cx="1236099" cy="4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3025" y="1216950"/>
            <a:ext cx="186975" cy="157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83945" y="658875"/>
            <a:ext cx="2658019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27DB9E-3E77-0CB1-354E-8ECC4A7D1408}"/>
              </a:ext>
            </a:extLst>
          </p:cNvPr>
          <p:cNvSpPr txBox="1"/>
          <p:nvPr/>
        </p:nvSpPr>
        <p:spPr>
          <a:xfrm>
            <a:off x="1535502" y="1117468"/>
            <a:ext cx="60729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Avances del modelo y la ecuación de CO</a:t>
            </a:r>
            <a:r>
              <a:rPr lang="es-ES" sz="11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 </a:t>
            </a:r>
            <a:r>
              <a:rPr lang="es-ES" sz="20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para el estimador de estados</a:t>
            </a:r>
            <a:endParaRPr lang="es-CL" sz="2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248D68C-24BE-0EDC-3B1D-B53ABD9D8896}"/>
              </a:ext>
            </a:extLst>
          </p:cNvPr>
          <p:cNvSpPr txBox="1"/>
          <p:nvPr/>
        </p:nvSpPr>
        <p:spPr>
          <a:xfrm>
            <a:off x="2286000" y="220260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CL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/>
                <a:ea typeface="Lato Black"/>
                <a:cs typeface="Lato Black"/>
                <a:sym typeface="Lato Black"/>
              </a:rPr>
              <a:t>CII – Viña Concha y Toro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A7E5DC8-9255-580D-487F-5762CDB9AFD3}"/>
              </a:ext>
            </a:extLst>
          </p:cNvPr>
          <p:cNvSpPr txBox="1"/>
          <p:nvPr/>
        </p:nvSpPr>
        <p:spPr>
          <a:xfrm>
            <a:off x="2234380" y="359441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CL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/>
                <a:ea typeface="Lato Black"/>
                <a:cs typeface="Lato Black"/>
                <a:sym typeface="Lato Black"/>
              </a:rPr>
              <a:t>Presentado por: Claudio Rodríguez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F2E4EAC-2C24-942D-DF0D-56CF97C652E1}"/>
              </a:ext>
            </a:extLst>
          </p:cNvPr>
          <p:cNvSpPr txBox="1"/>
          <p:nvPr/>
        </p:nvSpPr>
        <p:spPr>
          <a:xfrm>
            <a:off x="2286000" y="394881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CL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/>
                <a:ea typeface="Lato Black"/>
                <a:cs typeface="Lato Black"/>
                <a:sym typeface="Lato Black"/>
              </a:rPr>
              <a:t>Universidad Técnica Federico Santa María</a:t>
            </a:r>
          </a:p>
        </p:txBody>
      </p:sp>
      <p:sp>
        <p:nvSpPr>
          <p:cNvPr id="10" name="Google Shape;169;p24">
            <a:extLst>
              <a:ext uri="{FF2B5EF4-FFF2-40B4-BE49-F238E27FC236}">
                <a16:creationId xmlns:a16="http://schemas.microsoft.com/office/drawing/2014/main" id="{7846A8CB-E21A-85FB-B040-9C6C4C4C60BB}"/>
              </a:ext>
            </a:extLst>
          </p:cNvPr>
          <p:cNvSpPr txBox="1"/>
          <p:nvPr/>
        </p:nvSpPr>
        <p:spPr>
          <a:xfrm>
            <a:off x="2647736" y="599205"/>
            <a:ext cx="3848528" cy="21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noAutofit/>
          </a:bodyPr>
          <a:lstStyle/>
          <a:p>
            <a:pPr lvl="0" algn="ctr"/>
            <a:r>
              <a:rPr lang="es-ES" sz="1600" dirty="0">
                <a:solidFill>
                  <a:srgbClr val="FF7900"/>
                </a:solidFill>
                <a:latin typeface="Lato Black"/>
                <a:ea typeface="Lato Black"/>
                <a:cs typeface="Lato Black"/>
                <a:sym typeface="Lato Black"/>
              </a:rPr>
              <a:t>Avance de Memoria</a:t>
            </a:r>
            <a:endParaRPr lang="es-CL" dirty="0">
              <a:solidFill>
                <a:schemeClr val="tx1">
                  <a:lumMod val="65000"/>
                  <a:lumOff val="35000"/>
                </a:schemeClr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DD0DF10-4259-669B-D8FE-8C3AB754B148}"/>
              </a:ext>
            </a:extLst>
          </p:cNvPr>
          <p:cNvCxnSpPr/>
          <p:nvPr/>
        </p:nvCxnSpPr>
        <p:spPr>
          <a:xfrm>
            <a:off x="1187266" y="2038746"/>
            <a:ext cx="6666229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568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E000344-A8DA-822C-E0F4-5A67B7D3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>
            <a:extLst>
              <a:ext uri="{FF2B5EF4-FFF2-40B4-BE49-F238E27FC236}">
                <a16:creationId xmlns:a16="http://schemas.microsoft.com/office/drawing/2014/main" id="{845BD8A8-185D-A02E-22EC-D0C3D52AB8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66" y="4465874"/>
            <a:ext cx="1717349" cy="3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A00B15A-2EE1-B2B4-2D22-446C85CF84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3901" y="4398898"/>
            <a:ext cx="1236099" cy="4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>
            <a:extLst>
              <a:ext uri="{FF2B5EF4-FFF2-40B4-BE49-F238E27FC236}">
                <a16:creationId xmlns:a16="http://schemas.microsoft.com/office/drawing/2014/main" id="{B94329DE-C7BC-FA1B-F1FD-57E083FF30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3025" y="1119673"/>
            <a:ext cx="186975" cy="1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27449CFF-EC14-31E3-FC22-A4E4AB9F0857}"/>
              </a:ext>
            </a:extLst>
          </p:cNvPr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8" name="Google Shape;169;p24">
            <a:extLst>
              <a:ext uri="{FF2B5EF4-FFF2-40B4-BE49-F238E27FC236}">
                <a16:creationId xmlns:a16="http://schemas.microsoft.com/office/drawing/2014/main" id="{9DE88791-C543-FBE6-02EE-C2F402FD4E51}"/>
              </a:ext>
            </a:extLst>
          </p:cNvPr>
          <p:cNvSpPr txBox="1"/>
          <p:nvPr/>
        </p:nvSpPr>
        <p:spPr>
          <a:xfrm>
            <a:off x="495300" y="2413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0" tIns="0" rIns="0" bIns="0" anchor="t" anchorCtr="0">
            <a:noAutofit/>
          </a:bodyPr>
          <a:lstStyle/>
          <a:p>
            <a:pPr lvl="0"/>
            <a: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INTEGRACIÓN DE CO₂ AL MODELO DINÁMICO</a:t>
            </a:r>
            <a:b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</a:br>
            <a:r>
              <a:rPr lang="es-ES" sz="1600">
                <a:solidFill>
                  <a:srgbClr val="595959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DE LA PRODUCCIÓN METABÓLICA A LA MEDICIÓN ONLINE</a:t>
            </a:r>
            <a:endParaRPr lang="es-CL" sz="1600" dirty="0">
              <a:solidFill>
                <a:srgbClr val="595959"/>
              </a:solidFill>
              <a:latin typeface="Lato Black" panose="020F0502020204030203" pitchFamily="34" charset="0"/>
              <a:ea typeface="Lato Black"/>
              <a:cs typeface="Lato Black"/>
              <a:sym typeface="Lato Black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69DF55-1587-35C1-694E-5962BED76953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82600" y="962815"/>
            <a:ext cx="5334000" cy="300197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1882022-A079-5327-86FD-40653327EDB0}"/>
              </a:ext>
            </a:extLst>
          </p:cNvPr>
          <p:cNvSpPr txBox="1"/>
          <p:nvPr/>
        </p:nvSpPr>
        <p:spPr>
          <a:xfrm>
            <a:off x="6007100" y="850272"/>
            <a:ext cx="21590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s-CL" sz="1100" b="1" dirty="0">
                <a:solidFill>
                  <a:srgbClr val="FF7900"/>
                </a:solidFill>
                <a:latin typeface="Lato Black" panose="020F0502020204030203" pitchFamily="34" charset="0"/>
              </a:rPr>
              <a:t>ECUACIONES ESENCIALES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55DAAF7-4FBC-FD6B-4F47-A0D52806DAF2}"/>
              </a:ext>
            </a:extLst>
          </p:cNvPr>
          <p:cNvSpPr/>
          <p:nvPr/>
        </p:nvSpPr>
        <p:spPr>
          <a:xfrm>
            <a:off x="5943600" y="2336800"/>
            <a:ext cx="2298700" cy="13462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r>
              <a:rPr lang="es-ES" sz="1150" b="1">
                <a:solidFill>
                  <a:srgbClr val="303030"/>
                </a:solidFill>
                <a:latin typeface="Lato" panose="020F0502020204030203" pitchFamily="34" charset="0"/>
              </a:rPr>
              <a:t>El caudalímetro no mide directamente la producción metabólica de CO₂: mide la salida gaseosa después de la acumulación y liberación.</a:t>
            </a:r>
            <a:endParaRPr lang="es-CL" sz="1150" b="1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91A4CE5-6C07-61E8-ACB8-2D09FD7186A5}"/>
              </a:ext>
            </a:extLst>
          </p:cNvPr>
          <p:cNvSpPr txBox="1"/>
          <p:nvPr/>
        </p:nvSpPr>
        <p:spPr>
          <a:xfrm>
            <a:off x="5905500" y="3784600"/>
            <a:ext cx="23622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s-CL" sz="950">
                <a:solidFill>
                  <a:srgbClr val="595959"/>
                </a:solidFill>
                <a:latin typeface="Lato" panose="020F0502020204030203" pitchFamily="34" charset="0"/>
              </a:rPr>
              <a:t>O₂: bloque auxiliar que modifica q_prod; aún no se incorpora al vector candidato final.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NativeEq_S2_qbio">
                <a:extLst>
                  <a:ext uri="{FF2B5EF4-FFF2-40B4-BE49-F238E27FC236}">
                    <a16:creationId xmlns:a16="http://schemas.microsoft.com/office/drawing/2014/main" id="{BAF90592-C93B-A2C8-D655-DA0BA3E106C3}"/>
                  </a:ext>
                </a:extLst>
              </p:cNvPr>
              <p:cNvSpPr txBox="1"/>
              <p:nvPr/>
            </p:nvSpPr>
            <p:spPr>
              <a:xfrm>
                <a:off x="5880100" y="1257300"/>
                <a:ext cx="2413000" cy="4572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5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5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sz="15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𝑏𝑖𝑜</m:t>
                          </m:r>
                        </m:sub>
                      </m:sSub>
                      <m:r>
                        <a:rPr lang="es-CL" sz="150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L" sz="15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L" sz="1500" i="0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L" sz="1500" i="0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44.01</m:t>
                              </m:r>
                            </m:num>
                            <m:den>
                              <m:r>
                                <a:rPr lang="es-CL" sz="1500" i="0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2·46.07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s-CL" sz="15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5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CL" sz="15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s-CL" sz="150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NativeEq_S2_qbio">
                <a:extLst>
                  <a:ext uri="{FF2B5EF4-FFF2-40B4-BE49-F238E27FC236}">
                    <a16:creationId xmlns:a16="http://schemas.microsoft.com/office/drawing/2014/main" id="{BAF90592-C93B-A2C8-D655-DA0BA3E10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100" y="1257300"/>
                <a:ext cx="2413000" cy="457200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NativeEq_S2_balance">
                <a:extLst>
                  <a:ext uri="{FF2B5EF4-FFF2-40B4-BE49-F238E27FC236}">
                    <a16:creationId xmlns:a16="http://schemas.microsoft.com/office/drawing/2014/main" id="{34F11073-3A9E-AEB0-B51C-F0433B580F1F}"/>
                  </a:ext>
                </a:extLst>
              </p:cNvPr>
              <p:cNvSpPr txBox="1"/>
              <p:nvPr/>
            </p:nvSpPr>
            <p:spPr>
              <a:xfrm>
                <a:off x="5880100" y="1765300"/>
                <a:ext cx="24130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CL" sz="15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5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CL" sz="150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150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s-CL" sz="150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r>
                            <a:rPr lang="es-CL" sz="15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CL" sz="150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5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5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sz="15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𝑝𝑟𝑜𝑑</m:t>
                          </m:r>
                        </m:sub>
                      </m:sSub>
                      <m:r>
                        <a:rPr lang="es-CL" sz="150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CL" sz="15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5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sz="15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𝑔𝑎𝑠</m:t>
                          </m:r>
                        </m:sub>
                      </m:sSub>
                    </m:oMath>
                  </m:oMathPara>
                </a14:m>
                <a:endParaRPr lang="es-CL" sz="150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NativeEq_S2_balance">
                <a:extLst>
                  <a:ext uri="{FF2B5EF4-FFF2-40B4-BE49-F238E27FC236}">
                    <a16:creationId xmlns:a16="http://schemas.microsoft.com/office/drawing/2014/main" id="{34F11073-3A9E-AEB0-B51C-F0433B580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100" y="1765300"/>
                <a:ext cx="2413000" cy="381000"/>
              </a:xfrm>
              <a:prstGeom prst="rect">
                <a:avLst/>
              </a:prstGeom>
              <a:blipFill>
                <a:blip r:embed="rId8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5442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E000344-A8DA-822C-E0F4-5A67B7D3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>
            <a:extLst>
              <a:ext uri="{FF2B5EF4-FFF2-40B4-BE49-F238E27FC236}">
                <a16:creationId xmlns:a16="http://schemas.microsoft.com/office/drawing/2014/main" id="{845BD8A8-185D-A02E-22EC-D0C3D52AB8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66" y="4465874"/>
            <a:ext cx="1717349" cy="3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A00B15A-2EE1-B2B4-2D22-446C85CF84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3901" y="4398898"/>
            <a:ext cx="1236099" cy="4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>
            <a:extLst>
              <a:ext uri="{FF2B5EF4-FFF2-40B4-BE49-F238E27FC236}">
                <a16:creationId xmlns:a16="http://schemas.microsoft.com/office/drawing/2014/main" id="{B94329DE-C7BC-FA1B-F1FD-57E083FF30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3025" y="1119673"/>
            <a:ext cx="186975" cy="1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27449CFF-EC14-31E3-FC22-A4E4AB9F0857}"/>
              </a:ext>
            </a:extLst>
          </p:cNvPr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8" name="Google Shape;169;p24">
            <a:extLst>
              <a:ext uri="{FF2B5EF4-FFF2-40B4-BE49-F238E27FC236}">
                <a16:creationId xmlns:a16="http://schemas.microsoft.com/office/drawing/2014/main" id="{9DE88791-C543-FBE6-02EE-C2F402FD4E51}"/>
              </a:ext>
            </a:extLst>
          </p:cNvPr>
          <p:cNvSpPr txBox="1"/>
          <p:nvPr/>
        </p:nvSpPr>
        <p:spPr>
          <a:xfrm>
            <a:off x="495300" y="2413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0" tIns="0" rIns="0" bIns="0" anchor="t" anchorCtr="0">
            <a:noAutofit/>
          </a:bodyPr>
          <a:lstStyle/>
          <a:p>
            <a:pPr lvl="0"/>
            <a: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¿CO₂ ALGEBRAICO O ESTADO DINÁMICO?</a:t>
            </a:r>
            <a:b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</a:br>
            <a:r>
              <a:rPr lang="es-ES" sz="1600">
                <a:solidFill>
                  <a:srgbClr val="595959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EVIDENCIA DE MEMORIA ENTRE PRODUCCIÓN Y SENSOR</a:t>
            </a:r>
            <a:endParaRPr lang="es-CL" sz="1600" dirty="0">
              <a:solidFill>
                <a:srgbClr val="595959"/>
              </a:solidFill>
              <a:latin typeface="Lato Black" panose="020F0502020204030203" pitchFamily="34" charset="0"/>
              <a:ea typeface="Lato Black"/>
              <a:cs typeface="Lato Black"/>
              <a:sym typeface="Lato Black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61D1D3-5FA4-324D-AF5C-D780AD3714EC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82600" y="1098550"/>
            <a:ext cx="5334000" cy="213360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7932D87-2FD4-2D81-7F6F-7C0ED7537242}"/>
              </a:ext>
            </a:extLst>
          </p:cNvPr>
          <p:cNvSpPr/>
          <p:nvPr/>
        </p:nvSpPr>
        <p:spPr>
          <a:xfrm>
            <a:off x="6070600" y="1041400"/>
            <a:ext cx="2159000" cy="9144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pt-BR" sz="1060" b="1">
                <a:solidFill>
                  <a:srgbClr val="303030"/>
                </a:solidFill>
                <a:latin typeface="Arial" panose="020B0604020202020204" pitchFamily="34" charset="0"/>
              </a:rPr>
              <a:t>MODELO INSTANTÁNEO</a:t>
            </a:r>
            <a:br>
              <a:rPr lang="pt-BR" sz="1060" b="1">
                <a:solidFill>
                  <a:srgbClr val="303030"/>
                </a:solidFill>
                <a:latin typeface="Arial" panose="020B0604020202020204" pitchFamily="34" charset="0"/>
              </a:rPr>
            </a:br>
            <a:r>
              <a:rPr lang="pt-BR" sz="1060" b="1">
                <a:solidFill>
                  <a:srgbClr val="303030"/>
                </a:solidFill>
                <a:latin typeface="Arial" panose="020B0604020202020204" pitchFamily="34" charset="0"/>
              </a:rPr>
              <a:t>Piloto 2025</a:t>
            </a:r>
            <a:br>
              <a:rPr lang="pt-BR" sz="1060" b="1">
                <a:solidFill>
                  <a:srgbClr val="303030"/>
                </a:solidFill>
                <a:latin typeface="Arial" panose="020B0604020202020204" pitchFamily="34" charset="0"/>
              </a:rPr>
            </a:br>
            <a:r>
              <a:rPr lang="pt-BR" sz="1060" b="1">
                <a:solidFill>
                  <a:srgbClr val="303030"/>
                </a:solidFill>
                <a:latin typeface="Arial" panose="020B0604020202020204" pitchFamily="34" charset="0"/>
              </a:rPr>
              <a:t>RMSE ≈ 0.384 L/min</a:t>
            </a:r>
            <a:br>
              <a:rPr lang="pt-BR" sz="1060" b="1">
                <a:solidFill>
                  <a:srgbClr val="303030"/>
                </a:solidFill>
                <a:latin typeface="Arial" panose="020B0604020202020204" pitchFamily="34" charset="0"/>
              </a:rPr>
            </a:br>
            <a:r>
              <a:rPr lang="pt-BR" sz="1060" b="1">
                <a:solidFill>
                  <a:srgbClr val="303030"/>
                </a:solidFill>
                <a:latin typeface="Arial" panose="020B0604020202020204" pitchFamily="34" charset="0"/>
              </a:rPr>
              <a:t>r ≈ 0.328</a:t>
            </a:r>
            <a:endParaRPr lang="es-CL" sz="1060" b="1">
              <a:solidFill>
                <a:srgbClr val="303030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BA1D797-25BA-0406-D5E0-717C25CCD6F1}"/>
              </a:ext>
            </a:extLst>
          </p:cNvPr>
          <p:cNvSpPr/>
          <p:nvPr/>
        </p:nvSpPr>
        <p:spPr>
          <a:xfrm>
            <a:off x="6070600" y="2057400"/>
            <a:ext cx="2159000" cy="10668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ES" sz="980" b="1">
                <a:solidFill>
                  <a:srgbClr val="303030"/>
                </a:solidFill>
                <a:latin typeface="Arial" panose="020B0604020202020204" pitchFamily="34" charset="0"/>
              </a:rPr>
              <a:t>MEJOR FORMULACIÓN DINÁMICA</a:t>
            </a:r>
            <a:br>
              <a:rPr lang="es-ES" sz="980" b="1">
                <a:solidFill>
                  <a:srgbClr val="303030"/>
                </a:solidFill>
                <a:latin typeface="Arial" panose="020B0604020202020204" pitchFamily="34" charset="0"/>
              </a:rPr>
            </a:br>
            <a:r>
              <a:rPr lang="es-ES" sz="980" b="1">
                <a:solidFill>
                  <a:srgbClr val="303030"/>
                </a:solidFill>
                <a:latin typeface="Arial" panose="020B0604020202020204" pitchFamily="34" charset="0"/>
              </a:rPr>
              <a:t>DEL ANÁLISIS 2025</a:t>
            </a:r>
            <a:br>
              <a:rPr lang="es-ES" sz="980" b="1">
                <a:solidFill>
                  <a:srgbClr val="303030"/>
                </a:solidFill>
                <a:latin typeface="Arial" panose="020B0604020202020204" pitchFamily="34" charset="0"/>
              </a:rPr>
            </a:br>
            <a:r>
              <a:rPr lang="es-ES" sz="980" b="1">
                <a:solidFill>
                  <a:srgbClr val="303030"/>
                </a:solidFill>
                <a:latin typeface="Arial" panose="020B0604020202020204" pitchFamily="34" charset="0"/>
              </a:rPr>
              <a:t>RMSE ≈ 0.240 L/min</a:t>
            </a:r>
            <a:br>
              <a:rPr lang="es-ES" sz="980" b="1">
                <a:solidFill>
                  <a:srgbClr val="303030"/>
                </a:solidFill>
                <a:latin typeface="Arial" panose="020B0604020202020204" pitchFamily="34" charset="0"/>
              </a:rPr>
            </a:br>
            <a:r>
              <a:rPr lang="es-ES" sz="980" b="1">
                <a:solidFill>
                  <a:srgbClr val="303030"/>
                </a:solidFill>
                <a:latin typeface="Arial" panose="020B0604020202020204" pitchFamily="34" charset="0"/>
              </a:rPr>
              <a:t>r ≈ 0.843</a:t>
            </a:r>
            <a:endParaRPr lang="es-CL" sz="980" b="1">
              <a:solidFill>
                <a:srgbClr val="303030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0C2EEC9-3255-D2D1-1751-1B79A6BF7BF0}"/>
              </a:ext>
            </a:extLst>
          </p:cNvPr>
          <p:cNvSpPr/>
          <p:nvPr/>
        </p:nvSpPr>
        <p:spPr>
          <a:xfrm>
            <a:off x="736600" y="3972411"/>
            <a:ext cx="7493000" cy="4445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ES" sz="870" b="1" dirty="0">
                <a:solidFill>
                  <a:srgbClr val="303030"/>
                </a:solidFill>
                <a:latin typeface="Arial" panose="020B0604020202020204" pitchFamily="34" charset="0"/>
              </a:rPr>
              <a:t>El trabajo previo (2025) mostró que una relación instantánea entre producción metabólica y CO₂ medido no reproducía adecuadamente la dinámica observada, motivando la incorporación de una capa dinámica intermedia.</a:t>
            </a:r>
            <a:endParaRPr lang="es-CL" sz="870" b="1" dirty="0">
              <a:solidFill>
                <a:srgbClr val="303030"/>
              </a:solidFill>
              <a:latin typeface="Arial" panose="020B0604020202020204" pitchFamily="34" charset="0"/>
            </a:endParaRPr>
          </a:p>
        </p:txBody>
      </p:sp>
      <p:sp>
        <p:nvSpPr>
          <p:cNvPr id="6" name="S3_Label_Algebraic">
            <a:extLst>
              <a:ext uri="{FF2B5EF4-FFF2-40B4-BE49-F238E27FC236}">
                <a16:creationId xmlns:a16="http://schemas.microsoft.com/office/drawing/2014/main" id="{5AFF77AE-4900-A6E5-3F48-760CCB9EFEC4}"/>
              </a:ext>
            </a:extLst>
          </p:cNvPr>
          <p:cNvSpPr txBox="1"/>
          <p:nvPr/>
        </p:nvSpPr>
        <p:spPr>
          <a:xfrm>
            <a:off x="1143764" y="3418563"/>
            <a:ext cx="952500" cy="3048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s-CL" sz="1100" b="1" dirty="0">
                <a:solidFill>
                  <a:srgbClr val="595959"/>
                </a:solidFill>
                <a:latin typeface="Lato" panose="020F0502020204030203" pitchFamily="34" charset="0"/>
              </a:rPr>
              <a:t>Algebraico: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NativeEq_S3_algebraic">
                <a:extLst>
                  <a:ext uri="{FF2B5EF4-FFF2-40B4-BE49-F238E27FC236}">
                    <a16:creationId xmlns:a16="http://schemas.microsoft.com/office/drawing/2014/main" id="{2A2DAFFB-F41F-3868-292E-E6E5790F69B6}"/>
                  </a:ext>
                </a:extLst>
              </p:cNvPr>
              <p:cNvSpPr txBox="1"/>
              <p:nvPr/>
            </p:nvSpPr>
            <p:spPr>
              <a:xfrm>
                <a:off x="1473200" y="3390900"/>
                <a:ext cx="2679700" cy="355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3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3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3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𝐶𝑂</m:t>
                          </m:r>
                          <m:r>
                            <a:rPr lang="es-CL" sz="1350" i="0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35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s-CL" sz="13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3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sz="13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𝑝𝑟𝑜𝑑</m:t>
                          </m:r>
                          <m:d>
                            <m:dPr>
                              <m:sepChr m:val=","/>
                              <m:ctrlPr>
                                <a:rPr lang="es-CL" sz="135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135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e>
                              <m:r>
                                <a:rPr lang="es-CL" sz="135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e>
                              <m:r>
                                <a:rPr lang="es-CL" sz="135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s-CL" sz="135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s-CL" sz="135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NativeEq_S3_algebraic">
                <a:extLst>
                  <a:ext uri="{FF2B5EF4-FFF2-40B4-BE49-F238E27FC236}">
                    <a16:creationId xmlns:a16="http://schemas.microsoft.com/office/drawing/2014/main" id="{2A2DAFFB-F41F-3868-292E-E6E5790F6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200" y="3390900"/>
                <a:ext cx="2679700" cy="355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3_Label_Dynamic">
            <a:extLst>
              <a:ext uri="{FF2B5EF4-FFF2-40B4-BE49-F238E27FC236}">
                <a16:creationId xmlns:a16="http://schemas.microsoft.com/office/drawing/2014/main" id="{F531DE08-7EE3-CCBF-E271-4DD3FB32FAA3}"/>
              </a:ext>
            </a:extLst>
          </p:cNvPr>
          <p:cNvSpPr txBox="1"/>
          <p:nvPr/>
        </p:nvSpPr>
        <p:spPr>
          <a:xfrm>
            <a:off x="5105400" y="3459726"/>
            <a:ext cx="850900" cy="30777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s-CL" sz="1050" b="1" dirty="0">
                <a:solidFill>
                  <a:srgbClr val="595959"/>
                </a:solidFill>
                <a:latin typeface="Lato" panose="020F0502020204030203" pitchFamily="34" charset="0"/>
              </a:rPr>
              <a:t>Dinámico: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NativeEq_S3_balance">
                <a:extLst>
                  <a:ext uri="{FF2B5EF4-FFF2-40B4-BE49-F238E27FC236}">
                    <a16:creationId xmlns:a16="http://schemas.microsoft.com/office/drawing/2014/main" id="{819A50E8-91AE-8907-88B1-1AD3EF92ADD5}"/>
                  </a:ext>
                </a:extLst>
              </p:cNvPr>
              <p:cNvSpPr txBox="1"/>
              <p:nvPr/>
            </p:nvSpPr>
            <p:spPr>
              <a:xfrm>
                <a:off x="5105400" y="3340100"/>
                <a:ext cx="2997200" cy="355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CL" sz="13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3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CL" sz="130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130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s-CL" sz="130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r>
                            <a:rPr lang="es-CL" sz="13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CL" sz="130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3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3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sz="13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𝑝𝑟𝑜𝑑</m:t>
                          </m:r>
                        </m:sub>
                      </m:sSub>
                      <m:r>
                        <a:rPr lang="es-CL" sz="130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CL" sz="13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3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sz="13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𝑔𝑎𝑠</m:t>
                          </m:r>
                        </m:sub>
                      </m:sSub>
                    </m:oMath>
                  </m:oMathPara>
                </a14:m>
                <a:endParaRPr lang="es-CL" sz="130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NativeEq_S3_balance">
                <a:extLst>
                  <a:ext uri="{FF2B5EF4-FFF2-40B4-BE49-F238E27FC236}">
                    <a16:creationId xmlns:a16="http://schemas.microsoft.com/office/drawing/2014/main" id="{819A50E8-91AE-8907-88B1-1AD3EF92A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3340100"/>
                <a:ext cx="2997200" cy="355600"/>
              </a:xfrm>
              <a:prstGeom prst="rect">
                <a:avLst/>
              </a:prstGeom>
              <a:blipFill>
                <a:blip r:embed="rId8"/>
                <a:stretch>
                  <a:fillRect t="-5172" b="-18966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NativeEq_S3_sensor">
                <a:extLst>
                  <a:ext uri="{FF2B5EF4-FFF2-40B4-BE49-F238E27FC236}">
                    <a16:creationId xmlns:a16="http://schemas.microsoft.com/office/drawing/2014/main" id="{14B66F5C-A9E9-F763-F578-5DD7B55F3CB2}"/>
                  </a:ext>
                </a:extLst>
              </p:cNvPr>
              <p:cNvSpPr txBox="1"/>
              <p:nvPr/>
            </p:nvSpPr>
            <p:spPr>
              <a:xfrm>
                <a:off x="5334000" y="3632200"/>
                <a:ext cx="241300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2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2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2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𝐶𝑂</m:t>
                          </m:r>
                          <m:r>
                            <a:rPr lang="es-CL" sz="1250" i="0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25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2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2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s-CL" sz="12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s-CL" sz="12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2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sz="12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𝑔𝑎𝑠</m:t>
                          </m:r>
                        </m:sub>
                      </m:sSub>
                    </m:oMath>
                  </m:oMathPara>
                </a14:m>
                <a:endParaRPr lang="es-CL" sz="125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NativeEq_S3_sensor">
                <a:extLst>
                  <a:ext uri="{FF2B5EF4-FFF2-40B4-BE49-F238E27FC236}">
                    <a16:creationId xmlns:a16="http://schemas.microsoft.com/office/drawing/2014/main" id="{14B66F5C-A9E9-F763-F578-5DD7B55F3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3632200"/>
                <a:ext cx="2413000" cy="3048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3_Benchmark_Provenance">
            <a:extLst>
              <a:ext uri="{FF2B5EF4-FFF2-40B4-BE49-F238E27FC236}">
                <a16:creationId xmlns:a16="http://schemas.microsoft.com/office/drawing/2014/main" id="{C7F8A230-EC9F-D5D0-B72E-5F18E26062E7}"/>
              </a:ext>
            </a:extLst>
          </p:cNvPr>
          <p:cNvSpPr txBox="1"/>
          <p:nvPr/>
        </p:nvSpPr>
        <p:spPr>
          <a:xfrm>
            <a:off x="571500" y="876300"/>
            <a:ext cx="51435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780" b="1">
                <a:solidFill>
                  <a:srgbClr val="FF7900"/>
                </a:solidFill>
                <a:latin typeface="Arial" panose="020B0604020202020204" pitchFamily="34" charset="0"/>
              </a:rPr>
              <a:t>ANTECEDENTE · PILOTO 2025 · EXPERIMENTO 25170</a:t>
            </a:r>
            <a:endParaRPr lang="es-CL" sz="780" b="1">
              <a:solidFill>
                <a:srgbClr val="FF7900"/>
              </a:solidFill>
              <a:latin typeface="Arial" panose="020B0604020202020204" pitchFamily="34" charset="0"/>
            </a:endParaRPr>
          </a:p>
        </p:txBody>
      </p:sp>
      <p:sp>
        <p:nvSpPr>
          <p:cNvPr id="7" name="S3_Curve_Key">
            <a:extLst>
              <a:ext uri="{FF2B5EF4-FFF2-40B4-BE49-F238E27FC236}">
                <a16:creationId xmlns:a16="http://schemas.microsoft.com/office/drawing/2014/main" id="{31D7CAB7-CE4C-1BCC-0332-C1F0629E71D4}"/>
              </a:ext>
            </a:extLst>
          </p:cNvPr>
          <p:cNvSpPr txBox="1"/>
          <p:nvPr/>
        </p:nvSpPr>
        <p:spPr>
          <a:xfrm>
            <a:off x="571500" y="3200400"/>
            <a:ext cx="5207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660">
                <a:solidFill>
                  <a:srgbClr val="595959"/>
                </a:solidFill>
                <a:latin typeface="Arial" panose="020B0604020202020204" pitchFamily="34" charset="0"/>
              </a:rPr>
              <a:t>gris = datos observados · azul (instant) = modelo instantáneo · marrón (solubility_o2_slow_transition) = mejor formulación dinámica de 2025 · demás curvas = formulaciones intermedias</a:t>
            </a:r>
            <a:endParaRPr lang="es-CL" sz="660">
              <a:solidFill>
                <a:srgbClr val="595959"/>
              </a:solidFill>
              <a:latin typeface="Arial" panose="020B0604020202020204" pitchFamily="34" charset="0"/>
            </a:endParaRPr>
          </a:p>
        </p:txBody>
      </p:sp>
      <p:sp>
        <p:nvSpPr>
          <p:cNvPr id="11" name="S3_Not_2026">
            <a:extLst>
              <a:ext uri="{FF2B5EF4-FFF2-40B4-BE49-F238E27FC236}">
                <a16:creationId xmlns:a16="http://schemas.microsoft.com/office/drawing/2014/main" id="{0F3EBEB5-262A-2B02-A911-77F929429B5A}"/>
              </a:ext>
            </a:extLst>
          </p:cNvPr>
          <p:cNvSpPr txBox="1"/>
          <p:nvPr/>
        </p:nvSpPr>
        <p:spPr>
          <a:xfrm>
            <a:off x="2286000" y="4508500"/>
            <a:ext cx="4572000" cy="101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CL" sz="680" dirty="0">
                <a:solidFill>
                  <a:srgbClr val="595959"/>
                </a:solidFill>
                <a:latin typeface="Arial" panose="020B0604020202020204" pitchFamily="34" charset="0"/>
              </a:rPr>
              <a:t>Antecedente: experimento Piloto 2025 — 25170. No corresponde a la campaña experimental 2026.</a:t>
            </a:r>
          </a:p>
        </p:txBody>
      </p:sp>
    </p:spTree>
    <p:extLst>
      <p:ext uri="{BB962C8B-B14F-4D97-AF65-F5344CB8AC3E}">
        <p14:creationId xmlns:p14="http://schemas.microsoft.com/office/powerpoint/2010/main" val="387178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E000344-A8DA-822C-E0F4-5A67B7D3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>
            <a:extLst>
              <a:ext uri="{FF2B5EF4-FFF2-40B4-BE49-F238E27FC236}">
                <a16:creationId xmlns:a16="http://schemas.microsoft.com/office/drawing/2014/main" id="{845BD8A8-185D-A02E-22EC-D0C3D52AB8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66" y="4465874"/>
            <a:ext cx="1717349" cy="3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A00B15A-2EE1-B2B4-2D22-446C85CF84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3901" y="4398898"/>
            <a:ext cx="1236099" cy="4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>
            <a:extLst>
              <a:ext uri="{FF2B5EF4-FFF2-40B4-BE49-F238E27FC236}">
                <a16:creationId xmlns:a16="http://schemas.microsoft.com/office/drawing/2014/main" id="{B94329DE-C7BC-FA1B-F1FD-57E083FF30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3025" y="1119673"/>
            <a:ext cx="186975" cy="1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27449CFF-EC14-31E3-FC22-A4E4AB9F0857}"/>
              </a:ext>
            </a:extLst>
          </p:cNvPr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8" name="Google Shape;169;p24">
            <a:extLst>
              <a:ext uri="{FF2B5EF4-FFF2-40B4-BE49-F238E27FC236}">
                <a16:creationId xmlns:a16="http://schemas.microsoft.com/office/drawing/2014/main" id="{9DE88791-C543-FBE6-02EE-C2F402FD4E51}"/>
              </a:ext>
            </a:extLst>
          </p:cNvPr>
          <p:cNvSpPr txBox="1"/>
          <p:nvPr/>
        </p:nvSpPr>
        <p:spPr>
          <a:xfrm>
            <a:off x="495300" y="2413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0" tIns="0" rIns="0" bIns="0" anchor="t" anchorCtr="0">
            <a:noAutofit/>
          </a:bodyPr>
          <a:lstStyle/>
          <a:p>
            <a:pPr lvl="0"/>
            <a:r>
              <a:rPr lang="es-ES" sz="1700" b="1">
                <a:solidFill>
                  <a:srgbClr val="FF7900"/>
                </a:solidFill>
                <a:latin typeface="Arial" panose="020B0604020202020204" pitchFamily="34" charset="0"/>
                <a:ea typeface="Lato Black"/>
                <a:cs typeface="Lato Black"/>
                <a:sym typeface="Lato Black"/>
              </a:rPr>
              <a:t>CALIBRACIÓN CON DATOS 2026 — MEDIO SINTÉTICO</a:t>
            </a:r>
            <a:br>
              <a:rPr lang="es-ES" sz="1700" b="1">
                <a:solidFill>
                  <a:srgbClr val="595959"/>
                </a:solidFill>
                <a:latin typeface="Arial" panose="020B0604020202020204" pitchFamily="34" charset="0"/>
                <a:ea typeface="Lato Black"/>
                <a:cs typeface="Lato Black"/>
                <a:sym typeface="Lato Black"/>
              </a:rPr>
            </a:br>
            <a:r>
              <a:rPr lang="es-ES" sz="1700" b="1">
                <a:solidFill>
                  <a:srgbClr val="595959"/>
                </a:solidFill>
                <a:latin typeface="Arial" panose="020B0604020202020204" pitchFamily="34" charset="0"/>
                <a:ea typeface="Lato Black"/>
                <a:cs typeface="Lato Black"/>
                <a:sym typeface="Lato Black"/>
              </a:rPr>
              <a:t>UN ÚNICO CONJUNTO DE PARÁMETROS PARA TODOS LOS DOE</a:t>
            </a:r>
            <a:endParaRPr lang="es-CL" sz="1700" b="1" dirty="0">
              <a:solidFill>
                <a:srgbClr val="595959"/>
              </a:solidFill>
              <a:latin typeface="Arial" panose="020B0604020202020204" pitchFamily="34" charset="0"/>
              <a:ea typeface="Lato Black"/>
              <a:cs typeface="Lato Black"/>
              <a:sym typeface="Lato Black"/>
            </a:endParaRPr>
          </a:p>
        </p:txBody>
      </p:sp>
      <p:pic>
        <p:nvPicPr>
          <p:cNvPr id="7" name="S4_MS_Full_Overlay">
            <a:extLst>
              <a:ext uri="{FF2B5EF4-FFF2-40B4-BE49-F238E27FC236}">
                <a16:creationId xmlns:a16="http://schemas.microsoft.com/office/drawing/2014/main" id="{67FE4075-BCAB-9C85-9CA9-6003444853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044743"/>
            <a:ext cx="7747000" cy="3066713"/>
          </a:xfrm>
          <a:prstGeom prst="rect">
            <a:avLst/>
          </a:prstGeom>
        </p:spPr>
      </p:pic>
      <p:sp>
        <p:nvSpPr>
          <p:cNvPr id="9" name="S4_MS_Params_Body">
            <a:extLst>
              <a:ext uri="{FF2B5EF4-FFF2-40B4-BE49-F238E27FC236}">
                <a16:creationId xmlns:a16="http://schemas.microsoft.com/office/drawing/2014/main" id="{509C543F-520F-1A4F-662E-231E9B17F71C}"/>
              </a:ext>
            </a:extLst>
          </p:cNvPr>
          <p:cNvSpPr/>
          <p:nvPr/>
        </p:nvSpPr>
        <p:spPr>
          <a:xfrm>
            <a:off x="4635500" y="2755900"/>
            <a:ext cx="35560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S4_MS_Params_Header">
            <a:extLst>
              <a:ext uri="{FF2B5EF4-FFF2-40B4-BE49-F238E27FC236}">
                <a16:creationId xmlns:a16="http://schemas.microsoft.com/office/drawing/2014/main" id="{1D8C8CF5-77F2-CE4E-BEB6-1FDE491801CA}"/>
              </a:ext>
            </a:extLst>
          </p:cNvPr>
          <p:cNvSpPr/>
          <p:nvPr/>
        </p:nvSpPr>
        <p:spPr>
          <a:xfrm>
            <a:off x="4635500" y="2755900"/>
            <a:ext cx="3556000" cy="203200"/>
          </a:xfrm>
          <a:prstGeom prst="rect">
            <a:avLst/>
          </a:prstGeom>
          <a:solidFill>
            <a:srgbClr val="FF79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S4_MS_Params_Title">
            <a:extLst>
              <a:ext uri="{FF2B5EF4-FFF2-40B4-BE49-F238E27FC236}">
                <a16:creationId xmlns:a16="http://schemas.microsoft.com/office/drawing/2014/main" id="{60422C00-8CB0-4B17-5E41-353B1ECAFF77}"/>
              </a:ext>
            </a:extLst>
          </p:cNvPr>
          <p:cNvSpPr txBox="1"/>
          <p:nvPr/>
        </p:nvSpPr>
        <p:spPr>
          <a:xfrm>
            <a:off x="4673600" y="2781300"/>
            <a:ext cx="3479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CL" sz="770" b="1">
                <a:solidFill>
                  <a:srgbClr val="FFFFFF"/>
                </a:solidFill>
                <a:latin typeface="Arial" panose="020B0604020202020204" pitchFamily="34" charset="0"/>
              </a:rPr>
              <a:t>PARÁMETROS CO₂ CALIBRADOS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S4_MS_Params_Eq_0">
                <a:extLst>
                  <a:ext uri="{FF2B5EF4-FFF2-40B4-BE49-F238E27FC236}">
                    <a16:creationId xmlns:a16="http://schemas.microsoft.com/office/drawing/2014/main" id="{81D40911-EE79-034C-BFD4-DA3E27D7BB95}"/>
                  </a:ext>
                </a:extLst>
              </p:cNvPr>
              <p:cNvSpPr txBox="1"/>
              <p:nvPr/>
            </p:nvSpPr>
            <p:spPr>
              <a:xfrm>
                <a:off x="4724400" y="2962910"/>
                <a:ext cx="3378200" cy="11655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𝑟𝑒𝑙𝑒𝑎𝑠𝑒</m:t>
                          </m:r>
                        </m:sub>
                      </m:sSub>
                      <m:r>
                        <a:rPr lang="es-CL" sz="61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=15.986 </m:t>
                      </m:r>
                      <m:sSup>
                        <m:sSupPr>
                          <m:ctrlP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s-CL" sz="610" i="0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s-CL" sz="61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S4_MS_Params_Eq_0">
                <a:extLst>
                  <a:ext uri="{FF2B5EF4-FFF2-40B4-BE49-F238E27FC236}">
                    <a16:creationId xmlns:a16="http://schemas.microsoft.com/office/drawing/2014/main" id="{81D40911-EE79-034C-BFD4-DA3E27D7B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962910"/>
                <a:ext cx="3378200" cy="116558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4_MS_Params_Line_1">
            <a:extLst>
              <a:ext uri="{FF2B5EF4-FFF2-40B4-BE49-F238E27FC236}">
                <a16:creationId xmlns:a16="http://schemas.microsoft.com/office/drawing/2014/main" id="{72936AE2-39B3-D60A-3B98-EE737E032A39}"/>
              </a:ext>
            </a:extLst>
          </p:cNvPr>
          <p:cNvCxnSpPr/>
          <p:nvPr/>
        </p:nvCxnSpPr>
        <p:spPr>
          <a:xfrm>
            <a:off x="4673600" y="3083278"/>
            <a:ext cx="3479800" cy="0"/>
          </a:xfrm>
          <a:prstGeom prst="line">
            <a:avLst/>
          </a:prstGeom>
          <a:ln w="444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S4_MS_Params_Eq_1">
                <a:extLst>
                  <a:ext uri="{FF2B5EF4-FFF2-40B4-BE49-F238E27FC236}">
                    <a16:creationId xmlns:a16="http://schemas.microsoft.com/office/drawing/2014/main" id="{0368DE32-1EAF-475F-FE92-0342F3AFBFAC}"/>
                  </a:ext>
                </a:extLst>
              </p:cNvPr>
              <p:cNvSpPr txBox="1"/>
              <p:nvPr/>
            </p:nvSpPr>
            <p:spPr>
              <a:xfrm>
                <a:off x="4724400" y="3087088"/>
                <a:ext cx="3378200" cy="11655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𝑠𝑎𝑡</m:t>
                          </m:r>
                        </m:sub>
                      </m:sSub>
                      <m:r>
                        <a:rPr lang="es-CL" sz="61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=0.351</m:t>
                      </m:r>
                    </m:oMath>
                  </m:oMathPara>
                </a14:m>
                <a:endParaRPr lang="es-CL" sz="61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S4_MS_Params_Eq_1">
                <a:extLst>
                  <a:ext uri="{FF2B5EF4-FFF2-40B4-BE49-F238E27FC236}">
                    <a16:creationId xmlns:a16="http://schemas.microsoft.com/office/drawing/2014/main" id="{0368DE32-1EAF-475F-FE92-0342F3AFB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087088"/>
                <a:ext cx="3378200" cy="116558"/>
              </a:xfrm>
              <a:prstGeom prst="rect">
                <a:avLst/>
              </a:prstGeom>
              <a:blipFill>
                <a:blip r:embed="rId8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4_MS_Params_Line_2">
            <a:extLst>
              <a:ext uri="{FF2B5EF4-FFF2-40B4-BE49-F238E27FC236}">
                <a16:creationId xmlns:a16="http://schemas.microsoft.com/office/drawing/2014/main" id="{FCCA9058-90A8-1198-4BD8-60C383B6DC97}"/>
              </a:ext>
            </a:extLst>
          </p:cNvPr>
          <p:cNvCxnSpPr/>
          <p:nvPr/>
        </p:nvCxnSpPr>
        <p:spPr>
          <a:xfrm>
            <a:off x="4673600" y="3207456"/>
            <a:ext cx="3479800" cy="0"/>
          </a:xfrm>
          <a:prstGeom prst="line">
            <a:avLst/>
          </a:prstGeom>
          <a:ln w="444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S4_MS_Params_Eq_2">
                <a:extLst>
                  <a:ext uri="{FF2B5EF4-FFF2-40B4-BE49-F238E27FC236}">
                    <a16:creationId xmlns:a16="http://schemas.microsoft.com/office/drawing/2014/main" id="{35F01B37-843D-CFAE-55F9-58F59F346B0A}"/>
                  </a:ext>
                </a:extLst>
              </p:cNvPr>
              <p:cNvSpPr txBox="1"/>
              <p:nvPr/>
            </p:nvSpPr>
            <p:spPr>
              <a:xfrm>
                <a:off x="4724400" y="3211266"/>
                <a:ext cx="3378200" cy="11655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s-CL" sz="610" i="0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s-CL" sz="61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=0.150 </m:t>
                      </m:r>
                      <m:r>
                        <a:rPr lang="es-CL" sz="610" i="1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es-CL" sz="61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s-CL" sz="610" i="0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610" i="1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𝑔𝐷</m:t>
                      </m:r>
                      <m:sSup>
                        <m:sSupPr>
                          <m:ctrlP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s-CL" sz="610" i="0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s-CL" sz="610" i="0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s-CL" sz="61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S4_MS_Params_Eq_2">
                <a:extLst>
                  <a:ext uri="{FF2B5EF4-FFF2-40B4-BE49-F238E27FC236}">
                    <a16:creationId xmlns:a16="http://schemas.microsoft.com/office/drawing/2014/main" id="{35F01B37-843D-CFAE-55F9-58F59F346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211266"/>
                <a:ext cx="3378200" cy="116558"/>
              </a:xfrm>
              <a:prstGeom prst="rect">
                <a:avLst/>
              </a:prstGeom>
              <a:blipFill>
                <a:blip r:embed="rId9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4_MS_Params_Line_3">
            <a:extLst>
              <a:ext uri="{FF2B5EF4-FFF2-40B4-BE49-F238E27FC236}">
                <a16:creationId xmlns:a16="http://schemas.microsoft.com/office/drawing/2014/main" id="{1E29E1C3-AD5E-86BB-DBF1-D9CA4B9157A6}"/>
              </a:ext>
            </a:extLst>
          </p:cNvPr>
          <p:cNvCxnSpPr/>
          <p:nvPr/>
        </p:nvCxnSpPr>
        <p:spPr>
          <a:xfrm>
            <a:off x="4673600" y="3331633"/>
            <a:ext cx="3479800" cy="0"/>
          </a:xfrm>
          <a:prstGeom prst="line">
            <a:avLst/>
          </a:prstGeom>
          <a:ln w="444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S4_MS_Params_Eq_3">
                <a:extLst>
                  <a:ext uri="{FF2B5EF4-FFF2-40B4-BE49-F238E27FC236}">
                    <a16:creationId xmlns:a16="http://schemas.microsoft.com/office/drawing/2014/main" id="{BFB70DEA-2ADA-1443-7817-BF8879F5DC77}"/>
                  </a:ext>
                </a:extLst>
              </p:cNvPr>
              <p:cNvSpPr txBox="1"/>
              <p:nvPr/>
            </p:nvSpPr>
            <p:spPr>
              <a:xfrm>
                <a:off x="4724400" y="3335443"/>
                <a:ext cx="3378200" cy="11655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s-CL" sz="610" i="0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2,0</m:t>
                          </m:r>
                        </m:sub>
                      </m:sSub>
                      <m:r>
                        <a:rPr lang="es-CL" sz="61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=0.390</m:t>
                      </m:r>
                    </m:oMath>
                  </m:oMathPara>
                </a14:m>
                <a:endParaRPr lang="es-CL" sz="61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S4_MS_Params_Eq_3">
                <a:extLst>
                  <a:ext uri="{FF2B5EF4-FFF2-40B4-BE49-F238E27FC236}">
                    <a16:creationId xmlns:a16="http://schemas.microsoft.com/office/drawing/2014/main" id="{BFB70DEA-2ADA-1443-7817-BF8879F5D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335443"/>
                <a:ext cx="3378200" cy="116558"/>
              </a:xfrm>
              <a:prstGeom prst="rect">
                <a:avLst/>
              </a:prstGeom>
              <a:blipFill>
                <a:blip r:embed="rId10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4_MS_Params_Line_4">
            <a:extLst>
              <a:ext uri="{FF2B5EF4-FFF2-40B4-BE49-F238E27FC236}">
                <a16:creationId xmlns:a16="http://schemas.microsoft.com/office/drawing/2014/main" id="{0ED37ECB-7B2E-5ACE-4D8D-DFBE92FAFA91}"/>
              </a:ext>
            </a:extLst>
          </p:cNvPr>
          <p:cNvCxnSpPr/>
          <p:nvPr/>
        </p:nvCxnSpPr>
        <p:spPr>
          <a:xfrm>
            <a:off x="4673600" y="3455811"/>
            <a:ext cx="3479800" cy="0"/>
          </a:xfrm>
          <a:prstGeom prst="line">
            <a:avLst/>
          </a:prstGeom>
          <a:ln w="444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S4_MS_Params_Eq_4">
                <a:extLst>
                  <a:ext uri="{FF2B5EF4-FFF2-40B4-BE49-F238E27FC236}">
                    <a16:creationId xmlns:a16="http://schemas.microsoft.com/office/drawing/2014/main" id="{9AEBF340-75D8-799C-CCF7-08C42260B28F}"/>
                  </a:ext>
                </a:extLst>
              </p:cNvPr>
              <p:cNvSpPr txBox="1"/>
              <p:nvPr/>
            </p:nvSpPr>
            <p:spPr>
              <a:xfrm>
                <a:off x="4724400" y="3459621"/>
                <a:ext cx="3378200" cy="11655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𝑟𝑖𝑠𝑒</m:t>
                          </m:r>
                        </m:sub>
                      </m:sSub>
                      <m:r>
                        <a:rPr lang="es-CL" sz="61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=36.995 </m:t>
                      </m:r>
                      <m:r>
                        <a:rPr lang="es-CL" sz="610" i="1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s-CL" sz="61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S4_MS_Params_Eq_4">
                <a:extLst>
                  <a:ext uri="{FF2B5EF4-FFF2-40B4-BE49-F238E27FC236}">
                    <a16:creationId xmlns:a16="http://schemas.microsoft.com/office/drawing/2014/main" id="{9AEBF340-75D8-799C-CCF7-08C42260B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459621"/>
                <a:ext cx="3378200" cy="116558"/>
              </a:xfrm>
              <a:prstGeom prst="rect">
                <a:avLst/>
              </a:prstGeom>
              <a:blipFill>
                <a:blip r:embed="rId11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4_MS_Params_Line_5">
            <a:extLst>
              <a:ext uri="{FF2B5EF4-FFF2-40B4-BE49-F238E27FC236}">
                <a16:creationId xmlns:a16="http://schemas.microsoft.com/office/drawing/2014/main" id="{A27EFAB8-D9A4-04D3-F2F7-AF31225E0742}"/>
              </a:ext>
            </a:extLst>
          </p:cNvPr>
          <p:cNvCxnSpPr/>
          <p:nvPr/>
        </p:nvCxnSpPr>
        <p:spPr>
          <a:xfrm>
            <a:off x="4673600" y="3579989"/>
            <a:ext cx="3479800" cy="0"/>
          </a:xfrm>
          <a:prstGeom prst="line">
            <a:avLst/>
          </a:prstGeom>
          <a:ln w="444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S4_MS_Params_Eq_5">
                <a:extLst>
                  <a:ext uri="{FF2B5EF4-FFF2-40B4-BE49-F238E27FC236}">
                    <a16:creationId xmlns:a16="http://schemas.microsoft.com/office/drawing/2014/main" id="{1D6F7EFF-33D2-94E3-44CB-8AAF1D20F362}"/>
                  </a:ext>
                </a:extLst>
              </p:cNvPr>
              <p:cNvSpPr txBox="1"/>
              <p:nvPr/>
            </p:nvSpPr>
            <p:spPr>
              <a:xfrm>
                <a:off x="4724400" y="3583799"/>
                <a:ext cx="3378200" cy="11655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s-CL" sz="61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=1.244</m:t>
                      </m:r>
                    </m:oMath>
                  </m:oMathPara>
                </a14:m>
                <a:endParaRPr lang="es-CL" sz="61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S4_MS_Params_Eq_5">
                <a:extLst>
                  <a:ext uri="{FF2B5EF4-FFF2-40B4-BE49-F238E27FC236}">
                    <a16:creationId xmlns:a16="http://schemas.microsoft.com/office/drawing/2014/main" id="{1D6F7EFF-33D2-94E3-44CB-8AAF1D20F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583799"/>
                <a:ext cx="3378200" cy="116558"/>
              </a:xfrm>
              <a:prstGeom prst="rect">
                <a:avLst/>
              </a:prstGeom>
              <a:blipFill>
                <a:blip r:embed="rId12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4_MS_Params_Line_6">
            <a:extLst>
              <a:ext uri="{FF2B5EF4-FFF2-40B4-BE49-F238E27FC236}">
                <a16:creationId xmlns:a16="http://schemas.microsoft.com/office/drawing/2014/main" id="{84BB5273-5FE9-A95C-DB7D-2B2B72882F84}"/>
              </a:ext>
            </a:extLst>
          </p:cNvPr>
          <p:cNvCxnSpPr/>
          <p:nvPr/>
        </p:nvCxnSpPr>
        <p:spPr>
          <a:xfrm>
            <a:off x="4673600" y="3704167"/>
            <a:ext cx="3479800" cy="0"/>
          </a:xfrm>
          <a:prstGeom prst="line">
            <a:avLst/>
          </a:prstGeom>
          <a:ln w="444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S4_MS_Params_Eq_6">
                <a:extLst>
                  <a:ext uri="{FF2B5EF4-FFF2-40B4-BE49-F238E27FC236}">
                    <a16:creationId xmlns:a16="http://schemas.microsoft.com/office/drawing/2014/main" id="{74E4D98B-1FBB-2BA0-FFC1-C41A3CDD8922}"/>
                  </a:ext>
                </a:extLst>
              </p:cNvPr>
              <p:cNvSpPr txBox="1"/>
              <p:nvPr/>
            </p:nvSpPr>
            <p:spPr>
              <a:xfrm>
                <a:off x="4724400" y="3707977"/>
                <a:ext cx="3378200" cy="11655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s-CL" sz="61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=0.010</m:t>
                      </m:r>
                    </m:oMath>
                  </m:oMathPara>
                </a14:m>
                <a:endParaRPr lang="es-CL" sz="61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2" name="S4_MS_Params_Eq_6">
                <a:extLst>
                  <a:ext uri="{FF2B5EF4-FFF2-40B4-BE49-F238E27FC236}">
                    <a16:creationId xmlns:a16="http://schemas.microsoft.com/office/drawing/2014/main" id="{74E4D98B-1FBB-2BA0-FFC1-C41A3CDD8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707977"/>
                <a:ext cx="3378200" cy="116558"/>
              </a:xfrm>
              <a:prstGeom prst="rect">
                <a:avLst/>
              </a:prstGeom>
              <a:blipFill>
                <a:blip r:embed="rId13"/>
                <a:stretch>
                  <a:fillRect b="-26316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4_MS_Params_Line_7">
            <a:extLst>
              <a:ext uri="{FF2B5EF4-FFF2-40B4-BE49-F238E27FC236}">
                <a16:creationId xmlns:a16="http://schemas.microsoft.com/office/drawing/2014/main" id="{58A6247C-389C-BC38-4337-EE5BE63E2E0B}"/>
              </a:ext>
            </a:extLst>
          </p:cNvPr>
          <p:cNvCxnSpPr/>
          <p:nvPr/>
        </p:nvCxnSpPr>
        <p:spPr>
          <a:xfrm>
            <a:off x="4673600" y="3828345"/>
            <a:ext cx="3479800" cy="0"/>
          </a:xfrm>
          <a:prstGeom prst="line">
            <a:avLst/>
          </a:prstGeom>
          <a:ln w="444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S4_MS_Params_Eq_7">
                <a:extLst>
                  <a:ext uri="{FF2B5EF4-FFF2-40B4-BE49-F238E27FC236}">
                    <a16:creationId xmlns:a16="http://schemas.microsoft.com/office/drawing/2014/main" id="{3062B833-6963-2C54-F993-0D1AF58CAE6E}"/>
                  </a:ext>
                </a:extLst>
              </p:cNvPr>
              <p:cNvSpPr txBox="1"/>
              <p:nvPr/>
            </p:nvSpPr>
            <p:spPr>
              <a:xfrm>
                <a:off x="4724400" y="3832154"/>
                <a:ext cx="3378200" cy="11655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L" sz="61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=0.350</m:t>
                      </m:r>
                    </m:oMath>
                  </m:oMathPara>
                </a14:m>
                <a:endParaRPr lang="es-CL" sz="61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S4_MS_Params_Eq_7">
                <a:extLst>
                  <a:ext uri="{FF2B5EF4-FFF2-40B4-BE49-F238E27FC236}">
                    <a16:creationId xmlns:a16="http://schemas.microsoft.com/office/drawing/2014/main" id="{3062B833-6963-2C54-F993-0D1AF58CA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832154"/>
                <a:ext cx="3378200" cy="116558"/>
              </a:xfrm>
              <a:prstGeom prst="rect">
                <a:avLst/>
              </a:prstGeom>
              <a:blipFill>
                <a:blip r:embed="rId14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4_MS_Params_Line_8">
            <a:extLst>
              <a:ext uri="{FF2B5EF4-FFF2-40B4-BE49-F238E27FC236}">
                <a16:creationId xmlns:a16="http://schemas.microsoft.com/office/drawing/2014/main" id="{B7526006-FEDF-0DC4-1224-374613F33B7D}"/>
              </a:ext>
            </a:extLst>
          </p:cNvPr>
          <p:cNvCxnSpPr/>
          <p:nvPr/>
        </p:nvCxnSpPr>
        <p:spPr>
          <a:xfrm>
            <a:off x="4673600" y="3952522"/>
            <a:ext cx="3479800" cy="0"/>
          </a:xfrm>
          <a:prstGeom prst="line">
            <a:avLst/>
          </a:prstGeom>
          <a:ln w="444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S4_MS_Params_Eq_8">
                <a:extLst>
                  <a:ext uri="{FF2B5EF4-FFF2-40B4-BE49-F238E27FC236}">
                    <a16:creationId xmlns:a16="http://schemas.microsoft.com/office/drawing/2014/main" id="{3E59C0D1-4AB9-1CA2-0878-67854E336C22}"/>
                  </a:ext>
                </a:extLst>
              </p:cNvPr>
              <p:cNvSpPr txBox="1"/>
              <p:nvPr/>
            </p:nvSpPr>
            <p:spPr>
              <a:xfrm>
                <a:off x="4724400" y="3956332"/>
                <a:ext cx="3378200" cy="11655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s-CL" sz="61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CL" sz="61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=2.134</m:t>
                      </m:r>
                    </m:oMath>
                  </m:oMathPara>
                </a14:m>
                <a:endParaRPr lang="es-CL" sz="61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8" name="S4_MS_Params_Eq_8">
                <a:extLst>
                  <a:ext uri="{FF2B5EF4-FFF2-40B4-BE49-F238E27FC236}">
                    <a16:creationId xmlns:a16="http://schemas.microsoft.com/office/drawing/2014/main" id="{3E59C0D1-4AB9-1CA2-0878-67854E336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956332"/>
                <a:ext cx="3378200" cy="116558"/>
              </a:xfrm>
              <a:prstGeom prst="rect">
                <a:avLst/>
              </a:prstGeom>
              <a:blipFill>
                <a:blip r:embed="rId15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S4_MS_Limitation">
            <a:extLst>
              <a:ext uri="{FF2B5EF4-FFF2-40B4-BE49-F238E27FC236}">
                <a16:creationId xmlns:a16="http://schemas.microsoft.com/office/drawing/2014/main" id="{526B7E33-1F78-39F3-F080-4685E5A7718B}"/>
              </a:ext>
            </a:extLst>
          </p:cNvPr>
          <p:cNvSpPr txBox="1"/>
          <p:nvPr/>
        </p:nvSpPr>
        <p:spPr>
          <a:xfrm>
            <a:off x="4508500" y="4114800"/>
            <a:ext cx="3810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750" b="1">
                <a:solidFill>
                  <a:srgbClr val="303030"/>
                </a:solidFill>
                <a:latin typeface="Arial" panose="020B0604020202020204" pitchFamily="34" charset="0"/>
              </a:rPr>
              <a:t>Un único conjunto de parámetros describe bien varias fermentaciones MS, pero no reproduce con la misma precisión todos los experimentos.</a:t>
            </a:r>
            <a:endParaRPr lang="es-CL" sz="750" b="1">
              <a:solidFill>
                <a:srgbClr val="30303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185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E000344-A8DA-822C-E0F4-5A67B7D3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>
            <a:extLst>
              <a:ext uri="{FF2B5EF4-FFF2-40B4-BE49-F238E27FC236}">
                <a16:creationId xmlns:a16="http://schemas.microsoft.com/office/drawing/2014/main" id="{845BD8A8-185D-A02E-22EC-D0C3D52AB8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66" y="4465874"/>
            <a:ext cx="1717349" cy="3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A00B15A-2EE1-B2B4-2D22-446C85CF84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3901" y="4398898"/>
            <a:ext cx="1236099" cy="4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>
            <a:extLst>
              <a:ext uri="{FF2B5EF4-FFF2-40B4-BE49-F238E27FC236}">
                <a16:creationId xmlns:a16="http://schemas.microsoft.com/office/drawing/2014/main" id="{B94329DE-C7BC-FA1B-F1FD-57E083FF30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3025" y="1119673"/>
            <a:ext cx="186975" cy="1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27449CFF-EC14-31E3-FC22-A4E4AB9F0857}"/>
              </a:ext>
            </a:extLst>
          </p:cNvPr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8" name="Google Shape;169;p24">
            <a:extLst>
              <a:ext uri="{FF2B5EF4-FFF2-40B4-BE49-F238E27FC236}">
                <a16:creationId xmlns:a16="http://schemas.microsoft.com/office/drawing/2014/main" id="{9DE88791-C543-FBE6-02EE-C2F402FD4E51}"/>
              </a:ext>
            </a:extLst>
          </p:cNvPr>
          <p:cNvSpPr txBox="1"/>
          <p:nvPr/>
        </p:nvSpPr>
        <p:spPr>
          <a:xfrm>
            <a:off x="495300" y="2413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0" tIns="0" rIns="0" bIns="0" anchor="t" anchorCtr="0">
            <a:noAutofit/>
          </a:bodyPr>
          <a:lstStyle/>
          <a:p>
            <a:pPr lvl="0"/>
            <a:r>
              <a:rPr lang="es-ES" sz="1700" b="1">
                <a:solidFill>
                  <a:srgbClr val="FF7900"/>
                </a:solidFill>
                <a:latin typeface="Arial" panose="020B0604020202020204" pitchFamily="34" charset="0"/>
                <a:ea typeface="Lato Black"/>
                <a:cs typeface="Lato Black"/>
                <a:sym typeface="Lato Black"/>
              </a:rPr>
              <a:t>CALIBRACIÓN CON DATOS 2026 — MEDIO NATURAL</a:t>
            </a:r>
            <a:br>
              <a:rPr lang="es-ES" sz="1700" b="1">
                <a:solidFill>
                  <a:srgbClr val="595959"/>
                </a:solidFill>
                <a:latin typeface="Arial" panose="020B0604020202020204" pitchFamily="34" charset="0"/>
                <a:ea typeface="Lato Black"/>
                <a:cs typeface="Lato Black"/>
                <a:sym typeface="Lato Black"/>
              </a:rPr>
            </a:br>
            <a:r>
              <a:rPr lang="es-ES" sz="1700" b="1">
                <a:solidFill>
                  <a:srgbClr val="595959"/>
                </a:solidFill>
                <a:latin typeface="Arial" panose="020B0604020202020204" pitchFamily="34" charset="0"/>
                <a:ea typeface="Lato Black"/>
                <a:cs typeface="Lato Black"/>
                <a:sym typeface="Lato Black"/>
              </a:rPr>
              <a:t>UN ÚNICO CONJUNTO DE PARÁMETROS PARA LOS 7 LAB</a:t>
            </a:r>
            <a:endParaRPr lang="es-CL" sz="1700" b="1" dirty="0">
              <a:solidFill>
                <a:srgbClr val="595959"/>
              </a:solidFill>
              <a:latin typeface="Arial" panose="020B0604020202020204" pitchFamily="34" charset="0"/>
              <a:ea typeface="Lato Black"/>
              <a:cs typeface="Lato Black"/>
              <a:sym typeface="Lato Black"/>
            </a:endParaRPr>
          </a:p>
        </p:txBody>
      </p:sp>
      <p:pic>
        <p:nvPicPr>
          <p:cNvPr id="4" name="S5_MN_Full_Overlay">
            <a:extLst>
              <a:ext uri="{FF2B5EF4-FFF2-40B4-BE49-F238E27FC236}">
                <a16:creationId xmlns:a16="http://schemas.microsoft.com/office/drawing/2014/main" id="{0A6D439D-FDAF-848B-333D-90785010E7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" y="1006033"/>
            <a:ext cx="5740400" cy="3423534"/>
          </a:xfrm>
          <a:prstGeom prst="rect">
            <a:avLst/>
          </a:prstGeom>
        </p:spPr>
      </p:pic>
      <p:sp>
        <p:nvSpPr>
          <p:cNvPr id="11" name="S5_MN_Params_Body">
            <a:extLst>
              <a:ext uri="{FF2B5EF4-FFF2-40B4-BE49-F238E27FC236}">
                <a16:creationId xmlns:a16="http://schemas.microsoft.com/office/drawing/2014/main" id="{5A5086D7-477E-3B1C-A2A5-0BD41E5B8530}"/>
              </a:ext>
            </a:extLst>
          </p:cNvPr>
          <p:cNvSpPr/>
          <p:nvPr/>
        </p:nvSpPr>
        <p:spPr>
          <a:xfrm>
            <a:off x="6350000" y="1054100"/>
            <a:ext cx="1968500" cy="233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S5_MN_Params_Header">
            <a:extLst>
              <a:ext uri="{FF2B5EF4-FFF2-40B4-BE49-F238E27FC236}">
                <a16:creationId xmlns:a16="http://schemas.microsoft.com/office/drawing/2014/main" id="{833E5C44-4F20-3880-04AB-F7257FC2A2FA}"/>
              </a:ext>
            </a:extLst>
          </p:cNvPr>
          <p:cNvSpPr/>
          <p:nvPr/>
        </p:nvSpPr>
        <p:spPr>
          <a:xfrm>
            <a:off x="6350000" y="1054100"/>
            <a:ext cx="1968500" cy="203200"/>
          </a:xfrm>
          <a:prstGeom prst="rect">
            <a:avLst/>
          </a:prstGeom>
          <a:solidFill>
            <a:srgbClr val="FF79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S5_MN_Params_Title">
            <a:extLst>
              <a:ext uri="{FF2B5EF4-FFF2-40B4-BE49-F238E27FC236}">
                <a16:creationId xmlns:a16="http://schemas.microsoft.com/office/drawing/2014/main" id="{60E222AC-94EF-DF87-F6B3-DB48DCA5A9B0}"/>
              </a:ext>
            </a:extLst>
          </p:cNvPr>
          <p:cNvSpPr txBox="1"/>
          <p:nvPr/>
        </p:nvSpPr>
        <p:spPr>
          <a:xfrm>
            <a:off x="6388100" y="1079500"/>
            <a:ext cx="18923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CL" sz="770" b="1">
                <a:solidFill>
                  <a:srgbClr val="FFFFFF"/>
                </a:solidFill>
                <a:latin typeface="Arial" panose="020B0604020202020204" pitchFamily="34" charset="0"/>
              </a:rPr>
              <a:t>PARÁMETROS CO₂ CALIBRADOS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S5_MN_Params_Eq_0">
                <a:extLst>
                  <a:ext uri="{FF2B5EF4-FFF2-40B4-BE49-F238E27FC236}">
                    <a16:creationId xmlns:a16="http://schemas.microsoft.com/office/drawing/2014/main" id="{EACCB3A3-535D-767A-641C-7D26507F3936}"/>
                  </a:ext>
                </a:extLst>
              </p:cNvPr>
              <p:cNvSpPr txBox="1"/>
              <p:nvPr/>
            </p:nvSpPr>
            <p:spPr>
              <a:xfrm>
                <a:off x="6438900" y="1261110"/>
                <a:ext cx="1790700" cy="22944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𝑟𝑒𝑙𝑒𝑎𝑠𝑒</m:t>
                          </m:r>
                        </m:sub>
                      </m:sSub>
                      <m:r>
                        <a:rPr lang="es-CL" sz="60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=0.425 </m:t>
                      </m:r>
                      <m:sSup>
                        <m:sSupPr>
                          <m:ctrlP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s-CL" sz="600" i="0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s-CL" sz="60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S5_MN_Params_Eq_0">
                <a:extLst>
                  <a:ext uri="{FF2B5EF4-FFF2-40B4-BE49-F238E27FC236}">
                    <a16:creationId xmlns:a16="http://schemas.microsoft.com/office/drawing/2014/main" id="{EACCB3A3-535D-767A-641C-7D26507F3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1261110"/>
                <a:ext cx="1790700" cy="2294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5_MN_Params_Line_1">
            <a:extLst>
              <a:ext uri="{FF2B5EF4-FFF2-40B4-BE49-F238E27FC236}">
                <a16:creationId xmlns:a16="http://schemas.microsoft.com/office/drawing/2014/main" id="{1D9ACF05-B7C0-0851-A4F2-61F0BCD94F38}"/>
              </a:ext>
            </a:extLst>
          </p:cNvPr>
          <p:cNvCxnSpPr/>
          <p:nvPr/>
        </p:nvCxnSpPr>
        <p:spPr>
          <a:xfrm>
            <a:off x="6388100" y="1494367"/>
            <a:ext cx="1892300" cy="0"/>
          </a:xfrm>
          <a:prstGeom prst="line">
            <a:avLst/>
          </a:prstGeom>
          <a:ln w="444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S5_MN_Params_Eq_1">
                <a:extLst>
                  <a:ext uri="{FF2B5EF4-FFF2-40B4-BE49-F238E27FC236}">
                    <a16:creationId xmlns:a16="http://schemas.microsoft.com/office/drawing/2014/main" id="{BF46D311-F26D-1FCA-222A-3ADD01AE00E9}"/>
                  </a:ext>
                </a:extLst>
              </p:cNvPr>
              <p:cNvSpPr txBox="1"/>
              <p:nvPr/>
            </p:nvSpPr>
            <p:spPr>
              <a:xfrm>
                <a:off x="6438900" y="1498177"/>
                <a:ext cx="1790700" cy="22944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𝑠𝑎𝑡</m:t>
                          </m:r>
                        </m:sub>
                      </m:sSub>
                      <m:r>
                        <a:rPr lang="es-CL" sz="60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=0.351</m:t>
                      </m:r>
                    </m:oMath>
                  </m:oMathPara>
                </a14:m>
                <a:endParaRPr lang="es-CL" sz="60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S5_MN_Params_Eq_1">
                <a:extLst>
                  <a:ext uri="{FF2B5EF4-FFF2-40B4-BE49-F238E27FC236}">
                    <a16:creationId xmlns:a16="http://schemas.microsoft.com/office/drawing/2014/main" id="{BF46D311-F26D-1FCA-222A-3ADD01AE0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1498177"/>
                <a:ext cx="1790700" cy="22944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5_MN_Params_Line_2">
            <a:extLst>
              <a:ext uri="{FF2B5EF4-FFF2-40B4-BE49-F238E27FC236}">
                <a16:creationId xmlns:a16="http://schemas.microsoft.com/office/drawing/2014/main" id="{92421E1E-4F45-A0C9-C5FF-5DE1840D08BA}"/>
              </a:ext>
            </a:extLst>
          </p:cNvPr>
          <p:cNvCxnSpPr/>
          <p:nvPr/>
        </p:nvCxnSpPr>
        <p:spPr>
          <a:xfrm>
            <a:off x="6388100" y="1731433"/>
            <a:ext cx="1892300" cy="0"/>
          </a:xfrm>
          <a:prstGeom prst="line">
            <a:avLst/>
          </a:prstGeom>
          <a:ln w="444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S5_MN_Params_Eq_2">
                <a:extLst>
                  <a:ext uri="{FF2B5EF4-FFF2-40B4-BE49-F238E27FC236}">
                    <a16:creationId xmlns:a16="http://schemas.microsoft.com/office/drawing/2014/main" id="{1D71CE2C-5210-E808-2623-34BB9305695C}"/>
                  </a:ext>
                </a:extLst>
              </p:cNvPr>
              <p:cNvSpPr txBox="1"/>
              <p:nvPr/>
            </p:nvSpPr>
            <p:spPr>
              <a:xfrm>
                <a:off x="6438900" y="1735243"/>
                <a:ext cx="1790700" cy="22944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s-CL" sz="600" i="0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s-CL" sz="60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=0.150 </m:t>
                      </m:r>
                      <m:r>
                        <a:rPr lang="es-CL" sz="600" i="1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es-CL" sz="60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s-CL" sz="600" i="0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600" i="1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𝑔𝐷</m:t>
                      </m:r>
                      <m:sSup>
                        <m:sSupPr>
                          <m:ctrlP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s-CL" sz="600" i="0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s-CL" sz="600" i="0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s-CL" sz="60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S5_MN_Params_Eq_2">
                <a:extLst>
                  <a:ext uri="{FF2B5EF4-FFF2-40B4-BE49-F238E27FC236}">
                    <a16:creationId xmlns:a16="http://schemas.microsoft.com/office/drawing/2014/main" id="{1D71CE2C-5210-E808-2623-34BB93056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1735243"/>
                <a:ext cx="1790700" cy="22944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5_MN_Params_Line_3">
            <a:extLst>
              <a:ext uri="{FF2B5EF4-FFF2-40B4-BE49-F238E27FC236}">
                <a16:creationId xmlns:a16="http://schemas.microsoft.com/office/drawing/2014/main" id="{A0BBD6CB-C3A7-EE90-27F6-8AAD852956E7}"/>
              </a:ext>
            </a:extLst>
          </p:cNvPr>
          <p:cNvCxnSpPr/>
          <p:nvPr/>
        </p:nvCxnSpPr>
        <p:spPr>
          <a:xfrm>
            <a:off x="6388100" y="1968500"/>
            <a:ext cx="1892300" cy="0"/>
          </a:xfrm>
          <a:prstGeom prst="line">
            <a:avLst/>
          </a:prstGeom>
          <a:ln w="444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S5_MN_Params_Eq_3">
                <a:extLst>
                  <a:ext uri="{FF2B5EF4-FFF2-40B4-BE49-F238E27FC236}">
                    <a16:creationId xmlns:a16="http://schemas.microsoft.com/office/drawing/2014/main" id="{30B2FD09-64F9-D8E3-517B-811902A410FD}"/>
                  </a:ext>
                </a:extLst>
              </p:cNvPr>
              <p:cNvSpPr txBox="1"/>
              <p:nvPr/>
            </p:nvSpPr>
            <p:spPr>
              <a:xfrm>
                <a:off x="6438900" y="1972310"/>
                <a:ext cx="1790700" cy="22944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s-CL" sz="600" i="0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2,0</m:t>
                          </m:r>
                        </m:sub>
                      </m:sSub>
                      <m:r>
                        <a:rPr lang="es-CL" sz="60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=0.195</m:t>
                      </m:r>
                    </m:oMath>
                  </m:oMathPara>
                </a14:m>
                <a:endParaRPr lang="es-CL" sz="60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S5_MN_Params_Eq_3">
                <a:extLst>
                  <a:ext uri="{FF2B5EF4-FFF2-40B4-BE49-F238E27FC236}">
                    <a16:creationId xmlns:a16="http://schemas.microsoft.com/office/drawing/2014/main" id="{30B2FD09-64F9-D8E3-517B-811902A41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1972310"/>
                <a:ext cx="1790700" cy="22944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5_MN_Params_Line_4">
            <a:extLst>
              <a:ext uri="{FF2B5EF4-FFF2-40B4-BE49-F238E27FC236}">
                <a16:creationId xmlns:a16="http://schemas.microsoft.com/office/drawing/2014/main" id="{F0DFB9FF-8514-D927-E65C-A818F6D39814}"/>
              </a:ext>
            </a:extLst>
          </p:cNvPr>
          <p:cNvCxnSpPr/>
          <p:nvPr/>
        </p:nvCxnSpPr>
        <p:spPr>
          <a:xfrm>
            <a:off x="6388100" y="2205567"/>
            <a:ext cx="1892300" cy="0"/>
          </a:xfrm>
          <a:prstGeom prst="line">
            <a:avLst/>
          </a:prstGeom>
          <a:ln w="444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S5_MN_Params_Eq_4">
                <a:extLst>
                  <a:ext uri="{FF2B5EF4-FFF2-40B4-BE49-F238E27FC236}">
                    <a16:creationId xmlns:a16="http://schemas.microsoft.com/office/drawing/2014/main" id="{4E7A69BC-C5B5-E39B-FBFE-F3587790EF1F}"/>
                  </a:ext>
                </a:extLst>
              </p:cNvPr>
              <p:cNvSpPr txBox="1"/>
              <p:nvPr/>
            </p:nvSpPr>
            <p:spPr>
              <a:xfrm>
                <a:off x="6438900" y="2209377"/>
                <a:ext cx="1790700" cy="22944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𝑟𝑖𝑠𝑒</m:t>
                          </m:r>
                        </m:sub>
                      </m:sSub>
                      <m:r>
                        <a:rPr lang="es-CL" sz="60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=64.659 </m:t>
                      </m:r>
                      <m:r>
                        <a:rPr lang="es-CL" sz="600" i="1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s-CL" sz="60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S5_MN_Params_Eq_4">
                <a:extLst>
                  <a:ext uri="{FF2B5EF4-FFF2-40B4-BE49-F238E27FC236}">
                    <a16:creationId xmlns:a16="http://schemas.microsoft.com/office/drawing/2014/main" id="{4E7A69BC-C5B5-E39B-FBFE-F3587790E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209377"/>
                <a:ext cx="1790700" cy="22944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5_MN_Params_Line_5">
            <a:extLst>
              <a:ext uri="{FF2B5EF4-FFF2-40B4-BE49-F238E27FC236}">
                <a16:creationId xmlns:a16="http://schemas.microsoft.com/office/drawing/2014/main" id="{72E5B5BE-6FE2-678B-254D-A534B100E9DC}"/>
              </a:ext>
            </a:extLst>
          </p:cNvPr>
          <p:cNvCxnSpPr/>
          <p:nvPr/>
        </p:nvCxnSpPr>
        <p:spPr>
          <a:xfrm>
            <a:off x="6388100" y="2442633"/>
            <a:ext cx="1892300" cy="0"/>
          </a:xfrm>
          <a:prstGeom prst="line">
            <a:avLst/>
          </a:prstGeom>
          <a:ln w="444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S5_MN_Params_Eq_5">
                <a:extLst>
                  <a:ext uri="{FF2B5EF4-FFF2-40B4-BE49-F238E27FC236}">
                    <a16:creationId xmlns:a16="http://schemas.microsoft.com/office/drawing/2014/main" id="{61D0F4CD-EC8D-4B28-1FC8-9F4FBF504CF5}"/>
                  </a:ext>
                </a:extLst>
              </p:cNvPr>
              <p:cNvSpPr txBox="1"/>
              <p:nvPr/>
            </p:nvSpPr>
            <p:spPr>
              <a:xfrm>
                <a:off x="6438900" y="2446443"/>
                <a:ext cx="1790700" cy="22944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s-CL" sz="60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=0.250</m:t>
                      </m:r>
                    </m:oMath>
                  </m:oMathPara>
                </a14:m>
                <a:endParaRPr lang="es-CL" sz="60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S5_MN_Params_Eq_5">
                <a:extLst>
                  <a:ext uri="{FF2B5EF4-FFF2-40B4-BE49-F238E27FC236}">
                    <a16:creationId xmlns:a16="http://schemas.microsoft.com/office/drawing/2014/main" id="{61D0F4CD-EC8D-4B28-1FC8-9F4FBF504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46443"/>
                <a:ext cx="1790700" cy="22944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5_MN_Params_Line_6">
            <a:extLst>
              <a:ext uri="{FF2B5EF4-FFF2-40B4-BE49-F238E27FC236}">
                <a16:creationId xmlns:a16="http://schemas.microsoft.com/office/drawing/2014/main" id="{A84F742B-69EC-3D6E-706F-CC942724F056}"/>
              </a:ext>
            </a:extLst>
          </p:cNvPr>
          <p:cNvCxnSpPr/>
          <p:nvPr/>
        </p:nvCxnSpPr>
        <p:spPr>
          <a:xfrm>
            <a:off x="6388100" y="2679700"/>
            <a:ext cx="1892300" cy="0"/>
          </a:xfrm>
          <a:prstGeom prst="line">
            <a:avLst/>
          </a:prstGeom>
          <a:ln w="444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S5_MN_Params_Eq_6">
                <a:extLst>
                  <a:ext uri="{FF2B5EF4-FFF2-40B4-BE49-F238E27FC236}">
                    <a16:creationId xmlns:a16="http://schemas.microsoft.com/office/drawing/2014/main" id="{C7B99101-1B0A-8D54-F832-6620251A6384}"/>
                  </a:ext>
                </a:extLst>
              </p:cNvPr>
              <p:cNvSpPr txBox="1"/>
              <p:nvPr/>
            </p:nvSpPr>
            <p:spPr>
              <a:xfrm>
                <a:off x="6438900" y="2683510"/>
                <a:ext cx="1790700" cy="22944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s-CL" sz="60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=0.735</m:t>
                      </m:r>
                    </m:oMath>
                  </m:oMathPara>
                </a14:m>
                <a:endParaRPr lang="es-CL" sz="60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2" name="S5_MN_Params_Eq_6">
                <a:extLst>
                  <a:ext uri="{FF2B5EF4-FFF2-40B4-BE49-F238E27FC236}">
                    <a16:creationId xmlns:a16="http://schemas.microsoft.com/office/drawing/2014/main" id="{C7B99101-1B0A-8D54-F832-6620251A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683510"/>
                <a:ext cx="1790700" cy="22944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5_MN_Params_Line_7">
            <a:extLst>
              <a:ext uri="{FF2B5EF4-FFF2-40B4-BE49-F238E27FC236}">
                <a16:creationId xmlns:a16="http://schemas.microsoft.com/office/drawing/2014/main" id="{DFB89C3E-A1FA-84E1-E03F-382EF945AEEE}"/>
              </a:ext>
            </a:extLst>
          </p:cNvPr>
          <p:cNvCxnSpPr/>
          <p:nvPr/>
        </p:nvCxnSpPr>
        <p:spPr>
          <a:xfrm>
            <a:off x="6388100" y="2916767"/>
            <a:ext cx="1892300" cy="0"/>
          </a:xfrm>
          <a:prstGeom prst="line">
            <a:avLst/>
          </a:prstGeom>
          <a:ln w="444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S5_MN_Params_Eq_7">
                <a:extLst>
                  <a:ext uri="{FF2B5EF4-FFF2-40B4-BE49-F238E27FC236}">
                    <a16:creationId xmlns:a16="http://schemas.microsoft.com/office/drawing/2014/main" id="{D2CEE838-5D20-B792-7F37-B282869463ED}"/>
                  </a:ext>
                </a:extLst>
              </p:cNvPr>
              <p:cNvSpPr txBox="1"/>
              <p:nvPr/>
            </p:nvSpPr>
            <p:spPr>
              <a:xfrm>
                <a:off x="6438900" y="2920577"/>
                <a:ext cx="1790700" cy="22944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L" sz="60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=1.064</m:t>
                      </m:r>
                    </m:oMath>
                  </m:oMathPara>
                </a14:m>
                <a:endParaRPr lang="es-CL" sz="60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S5_MN_Params_Eq_7">
                <a:extLst>
                  <a:ext uri="{FF2B5EF4-FFF2-40B4-BE49-F238E27FC236}">
                    <a16:creationId xmlns:a16="http://schemas.microsoft.com/office/drawing/2014/main" id="{D2CEE838-5D20-B792-7F37-B28286946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920577"/>
                <a:ext cx="1790700" cy="22944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5_MN_Params_Line_8">
            <a:extLst>
              <a:ext uri="{FF2B5EF4-FFF2-40B4-BE49-F238E27FC236}">
                <a16:creationId xmlns:a16="http://schemas.microsoft.com/office/drawing/2014/main" id="{0A816DF0-0BCA-0DC7-0B6A-AC52EC173A91}"/>
              </a:ext>
            </a:extLst>
          </p:cNvPr>
          <p:cNvCxnSpPr/>
          <p:nvPr/>
        </p:nvCxnSpPr>
        <p:spPr>
          <a:xfrm>
            <a:off x="6388100" y="3153833"/>
            <a:ext cx="1892300" cy="0"/>
          </a:xfrm>
          <a:prstGeom prst="line">
            <a:avLst/>
          </a:prstGeom>
          <a:ln w="444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S5_MN_Params_Eq_8">
                <a:extLst>
                  <a:ext uri="{FF2B5EF4-FFF2-40B4-BE49-F238E27FC236}">
                    <a16:creationId xmlns:a16="http://schemas.microsoft.com/office/drawing/2014/main" id="{22311964-D0E9-2A76-C29C-FB9A2C0AC673}"/>
                  </a:ext>
                </a:extLst>
              </p:cNvPr>
              <p:cNvSpPr txBox="1"/>
              <p:nvPr/>
            </p:nvSpPr>
            <p:spPr>
              <a:xfrm>
                <a:off x="6438900" y="3157643"/>
                <a:ext cx="1790700" cy="22944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s-CL" sz="60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CL" sz="60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=3.116</m:t>
                      </m:r>
                    </m:oMath>
                  </m:oMathPara>
                </a14:m>
                <a:endParaRPr lang="es-CL" sz="60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8" name="S5_MN_Params_Eq_8">
                <a:extLst>
                  <a:ext uri="{FF2B5EF4-FFF2-40B4-BE49-F238E27FC236}">
                    <a16:creationId xmlns:a16="http://schemas.microsoft.com/office/drawing/2014/main" id="{22311964-D0E9-2A76-C29C-FB9A2C0AC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3157643"/>
                <a:ext cx="1790700" cy="22944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S5_MN_Limitation">
            <a:extLst>
              <a:ext uri="{FF2B5EF4-FFF2-40B4-BE49-F238E27FC236}">
                <a16:creationId xmlns:a16="http://schemas.microsoft.com/office/drawing/2014/main" id="{4042297B-53B4-A11A-6600-7166F4852E79}"/>
              </a:ext>
            </a:extLst>
          </p:cNvPr>
          <p:cNvSpPr txBox="1"/>
          <p:nvPr/>
        </p:nvSpPr>
        <p:spPr>
          <a:xfrm>
            <a:off x="6388100" y="3438735"/>
            <a:ext cx="19685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650" b="1" dirty="0">
                <a:solidFill>
                  <a:srgbClr val="303030"/>
                </a:solidFill>
                <a:latin typeface="Arial" panose="020B0604020202020204" pitchFamily="34" charset="0"/>
              </a:rPr>
              <a:t>Un único conjunto de parámetros describe bien varias fermentaciones MN, pero no reproduce con la misma precisión todos los experimentos.</a:t>
            </a:r>
            <a:endParaRPr lang="es-CL" sz="650" b="1" dirty="0">
              <a:solidFill>
                <a:srgbClr val="30303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992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E000344-A8DA-822C-E0F4-5A67B7D3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>
            <a:extLst>
              <a:ext uri="{FF2B5EF4-FFF2-40B4-BE49-F238E27FC236}">
                <a16:creationId xmlns:a16="http://schemas.microsoft.com/office/drawing/2014/main" id="{845BD8A8-185D-A02E-22EC-D0C3D52AB8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66" y="4465874"/>
            <a:ext cx="1717349" cy="3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A00B15A-2EE1-B2B4-2D22-446C85CF84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3901" y="4398898"/>
            <a:ext cx="1236099" cy="4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>
            <a:extLst>
              <a:ext uri="{FF2B5EF4-FFF2-40B4-BE49-F238E27FC236}">
                <a16:creationId xmlns:a16="http://schemas.microsoft.com/office/drawing/2014/main" id="{B94329DE-C7BC-FA1B-F1FD-57E083FF30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3025" y="1119673"/>
            <a:ext cx="186975" cy="1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27449CFF-EC14-31E3-FC22-A4E4AB9F0857}"/>
              </a:ext>
            </a:extLst>
          </p:cNvPr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8" name="Google Shape;169;p24">
            <a:extLst>
              <a:ext uri="{FF2B5EF4-FFF2-40B4-BE49-F238E27FC236}">
                <a16:creationId xmlns:a16="http://schemas.microsoft.com/office/drawing/2014/main" id="{9DE88791-C543-FBE6-02EE-C2F402FD4E51}"/>
              </a:ext>
            </a:extLst>
          </p:cNvPr>
          <p:cNvSpPr txBox="1"/>
          <p:nvPr/>
        </p:nvSpPr>
        <p:spPr>
          <a:xfrm>
            <a:off x="495300" y="2413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0" tIns="0" rIns="0" bIns="0" anchor="t" anchorCtr="0">
            <a:noAutofit/>
          </a:bodyPr>
          <a:lstStyle/>
          <a:p>
            <a:pPr lvl="0"/>
            <a: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INTEGRACIÓN DE LOS PULSOS DE N</a:t>
            </a:r>
            <a:b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</a:br>
            <a:r>
              <a:rPr lang="es-ES" sz="1600">
                <a:solidFill>
                  <a:srgbClr val="595959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RESPUESTA DINÁMICA Y NO INSTANTÁNEA</a:t>
            </a:r>
            <a:endParaRPr lang="es-CL" sz="1600" dirty="0">
              <a:solidFill>
                <a:srgbClr val="595959"/>
              </a:solidFill>
              <a:latin typeface="Lato Black" panose="020F0502020204030203" pitchFamily="34" charset="0"/>
              <a:ea typeface="Lato Black"/>
              <a:cs typeface="Lato Black"/>
              <a:sym typeface="Lato Black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1D264B-D3C0-052C-B345-CA66DFADD2D9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1028832"/>
            <a:ext cx="3619500" cy="243813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185B35-A698-ABB2-84FF-F1F22BAF6EC5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391585" y="990600"/>
            <a:ext cx="3599330" cy="2514600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9A08500-8022-27DD-4822-B128937C860F}"/>
              </a:ext>
            </a:extLst>
          </p:cNvPr>
          <p:cNvSpPr/>
          <p:nvPr/>
        </p:nvSpPr>
        <p:spPr>
          <a:xfrm>
            <a:off x="609600" y="3606800"/>
            <a:ext cx="2794000" cy="4445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endParaRPr lang="es-CL" sz="1300" b="1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FD787C-3657-E1A2-CC43-F347BEEECE6C}"/>
              </a:ext>
            </a:extLst>
          </p:cNvPr>
          <p:cNvSpPr/>
          <p:nvPr/>
        </p:nvSpPr>
        <p:spPr>
          <a:xfrm>
            <a:off x="3505200" y="3606800"/>
            <a:ext cx="3048000" cy="4445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endParaRPr lang="es-CL" sz="1250" b="1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B711923-6533-ED77-68F6-BF64D4413201}"/>
              </a:ext>
            </a:extLst>
          </p:cNvPr>
          <p:cNvSpPr/>
          <p:nvPr/>
        </p:nvSpPr>
        <p:spPr>
          <a:xfrm>
            <a:off x="6629400" y="3606800"/>
            <a:ext cx="1625600" cy="4445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sz="1050" b="1">
                <a:solidFill>
                  <a:srgbClr val="303030"/>
                </a:solidFill>
                <a:latin typeface="Lato" panose="020F0502020204030203" pitchFamily="34" charset="0"/>
              </a:rPr>
              <a:t>t_rise,MS ≈ 37.0 h   |   t_rise,MN ≈ 64.7 h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6FD02BA-0C7C-A5E4-216F-C4E939C6982F}"/>
              </a:ext>
            </a:extLst>
          </p:cNvPr>
          <p:cNvSpPr txBox="1"/>
          <p:nvPr/>
        </p:nvSpPr>
        <p:spPr>
          <a:xfrm>
            <a:off x="1193800" y="4138187"/>
            <a:ext cx="64135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s-ES" sz="1050" b="1" dirty="0">
                <a:solidFill>
                  <a:srgbClr val="595959"/>
                </a:solidFill>
                <a:latin typeface="Lato" panose="020F0502020204030203" pitchFamily="34" charset="0"/>
              </a:rPr>
              <a:t>El pulso modifica causalmente las trayectorias del modelo biológico; su efecto sobre CO₂ se introduce gradualmente.</a:t>
            </a:r>
            <a:endParaRPr lang="es-CL" sz="1050" b="1" dirty="0">
              <a:solidFill>
                <a:srgbClr val="595959"/>
              </a:solidFill>
              <a:latin typeface="Lato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NativeEq_S5_jump">
                <a:extLst>
                  <a:ext uri="{FF2B5EF4-FFF2-40B4-BE49-F238E27FC236}">
                    <a16:creationId xmlns:a16="http://schemas.microsoft.com/office/drawing/2014/main" id="{D67EE959-F3DB-4947-9373-F36936BB867E}"/>
                  </a:ext>
                </a:extLst>
              </p:cNvPr>
              <p:cNvSpPr txBox="1"/>
              <p:nvPr/>
            </p:nvSpPr>
            <p:spPr>
              <a:xfrm>
                <a:off x="685800" y="3644899"/>
                <a:ext cx="2641600" cy="355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CL" i="1" smtClean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s-CL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CL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L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CL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s-CL" i="0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</m:e>
                      </m:d>
                      <m:r>
                        <a:rPr lang="es-CL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i="1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s-CL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CL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L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CL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s-CL" i="0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</m:e>
                      </m:d>
                      <m:r>
                        <a:rPr lang="es-CL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L" i="1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es-CL" i="1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s-CL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NativeEq_S5_jump">
                <a:extLst>
                  <a:ext uri="{FF2B5EF4-FFF2-40B4-BE49-F238E27FC236}">
                    <a16:creationId xmlns:a16="http://schemas.microsoft.com/office/drawing/2014/main" id="{D67EE959-F3DB-4947-9373-F36936BB8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644899"/>
                <a:ext cx="2641600" cy="3556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NativeEq_S5_release">
                <a:extLst>
                  <a:ext uri="{FF2B5EF4-FFF2-40B4-BE49-F238E27FC236}">
                    <a16:creationId xmlns:a16="http://schemas.microsoft.com/office/drawing/2014/main" id="{2427BD2A-99EF-29EF-4C2C-0464735A7FF6}"/>
                  </a:ext>
                </a:extLst>
              </p:cNvPr>
              <p:cNvSpPr txBox="1"/>
              <p:nvPr/>
            </p:nvSpPr>
            <p:spPr>
              <a:xfrm>
                <a:off x="3581400" y="3644900"/>
                <a:ext cx="2895600" cy="355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3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3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L" sz="13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s-CL" sz="135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135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es-CL" sz="135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1350" i="1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𝑐𝑙𝑖𝑝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es-CL" sz="13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L" sz="135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L" sz="135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CL" sz="1350" i="0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CL" sz="1350" i="1">
                                      <a:solidFill>
                                        <a:srgbClr val="30303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1350" i="1">
                                      <a:solidFill>
                                        <a:srgbClr val="30303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s-CL" sz="1350" i="1">
                                      <a:solidFill>
                                        <a:srgbClr val="30303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CL" sz="1350" i="1">
                                      <a:solidFill>
                                        <a:srgbClr val="30303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1350" i="1">
                                      <a:solidFill>
                                        <a:srgbClr val="30303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s-CL" sz="1350" i="1">
                                      <a:solidFill>
                                        <a:srgbClr val="30303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𝑟𝑖𝑠𝑒</m:t>
                                  </m:r>
                                </m:sub>
                              </m:sSub>
                            </m:den>
                          </m:f>
                        </m:e>
                        <m:e>
                          <m:r>
                            <a:rPr lang="es-CL" sz="1350" i="0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s-CL" sz="1350" i="0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CL" sz="135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NativeEq_S5_release">
                <a:extLst>
                  <a:ext uri="{FF2B5EF4-FFF2-40B4-BE49-F238E27FC236}">
                    <a16:creationId xmlns:a16="http://schemas.microsoft.com/office/drawing/2014/main" id="{2427BD2A-99EF-29EF-4C2C-0464735A7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3644900"/>
                <a:ext cx="2895600" cy="355600"/>
              </a:xfrm>
              <a:prstGeom prst="rect">
                <a:avLst/>
              </a:prstGeom>
              <a:blipFill>
                <a:blip r:embed="rId9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6442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E000344-A8DA-822C-E0F4-5A67B7D3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>
            <a:extLst>
              <a:ext uri="{FF2B5EF4-FFF2-40B4-BE49-F238E27FC236}">
                <a16:creationId xmlns:a16="http://schemas.microsoft.com/office/drawing/2014/main" id="{845BD8A8-185D-A02E-22EC-D0C3D52AB8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66" y="4465874"/>
            <a:ext cx="1717349" cy="3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A00B15A-2EE1-B2B4-2D22-446C85CF84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3901" y="4398898"/>
            <a:ext cx="1236099" cy="4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>
            <a:extLst>
              <a:ext uri="{FF2B5EF4-FFF2-40B4-BE49-F238E27FC236}">
                <a16:creationId xmlns:a16="http://schemas.microsoft.com/office/drawing/2014/main" id="{B94329DE-C7BC-FA1B-F1FD-57E083FF30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3025" y="1119673"/>
            <a:ext cx="186975" cy="1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27449CFF-EC14-31E3-FC22-A4E4AB9F0857}"/>
              </a:ext>
            </a:extLst>
          </p:cNvPr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8" name="Google Shape;169;p24">
            <a:extLst>
              <a:ext uri="{FF2B5EF4-FFF2-40B4-BE49-F238E27FC236}">
                <a16:creationId xmlns:a16="http://schemas.microsoft.com/office/drawing/2014/main" id="{9DE88791-C543-FBE6-02EE-C2F402FD4E51}"/>
              </a:ext>
            </a:extLst>
          </p:cNvPr>
          <p:cNvSpPr txBox="1"/>
          <p:nvPr/>
        </p:nvSpPr>
        <p:spPr>
          <a:xfrm>
            <a:off x="495300" y="2413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0" tIns="0" rIns="0" bIns="0" anchor="t" anchorCtr="0">
            <a:noAutofit/>
          </a:bodyPr>
          <a:lstStyle/>
          <a:p>
            <a:pPr lvl="0"/>
            <a:r>
              <a:rPr lang="es-ES" sz="1700" b="1">
                <a:solidFill>
                  <a:srgbClr val="FF7900"/>
                </a:solidFill>
                <a:latin typeface="Arial" panose="020B0604020202020204" pitchFamily="34" charset="0"/>
                <a:ea typeface="Lato Black"/>
                <a:cs typeface="Lato Black"/>
                <a:sym typeface="Lato Black"/>
              </a:rPr>
              <a:t>LIBERACIÓN DE CO₂: THRESHOLD VS CONTINUOUS</a:t>
            </a:r>
            <a:br>
              <a:rPr lang="es-ES" sz="1700" b="1">
                <a:solidFill>
                  <a:srgbClr val="595959"/>
                </a:solidFill>
                <a:latin typeface="Arial" panose="020B0604020202020204" pitchFamily="34" charset="0"/>
                <a:ea typeface="Lato Black"/>
                <a:cs typeface="Lato Black"/>
                <a:sym typeface="Lato Black"/>
              </a:rPr>
            </a:br>
            <a:r>
              <a:rPr lang="es-ES" sz="1700" b="1">
                <a:solidFill>
                  <a:srgbClr val="595959"/>
                </a:solidFill>
                <a:latin typeface="Arial" panose="020B0604020202020204" pitchFamily="34" charset="0"/>
                <a:ea typeface="Lato Black"/>
                <a:cs typeface="Lato Black"/>
                <a:sym typeface="Lato Black"/>
              </a:rPr>
              <a:t>CALIBRACIÓN SEPARADA Y VALIDACIÓN EN HOLDOUT</a:t>
            </a:r>
            <a:endParaRPr lang="es-CL" sz="1700" b="1" dirty="0">
              <a:solidFill>
                <a:srgbClr val="595959"/>
              </a:solidFill>
              <a:latin typeface="Arial" panose="020B0604020202020204" pitchFamily="34" charset="0"/>
              <a:ea typeface="Lato Black"/>
              <a:cs typeface="Lato Black"/>
              <a:sym typeface="Lato Black"/>
            </a:endParaRPr>
          </a:p>
        </p:txBody>
      </p:sp>
      <p:sp>
        <p:nvSpPr>
          <p:cNvPr id="3" name="S8_Initial_Label">
            <a:extLst>
              <a:ext uri="{FF2B5EF4-FFF2-40B4-BE49-F238E27FC236}">
                <a16:creationId xmlns:a16="http://schemas.microsoft.com/office/drawing/2014/main" id="{B44048F3-EB19-1937-41B9-6ED60B36B838}"/>
              </a:ext>
            </a:extLst>
          </p:cNvPr>
          <p:cNvSpPr txBox="1"/>
          <p:nvPr/>
        </p:nvSpPr>
        <p:spPr>
          <a:xfrm>
            <a:off x="508000" y="914400"/>
            <a:ext cx="33655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CL" sz="820" b="1">
                <a:solidFill>
                  <a:srgbClr val="FF7900"/>
                </a:solidFill>
                <a:latin typeface="Arial" panose="020B0604020202020204" pitchFamily="34" charset="0"/>
              </a:rPr>
              <a:t>COMPARACIÓN DE FORMULACIONES</a:t>
            </a:r>
          </a:p>
        </p:txBody>
      </p:sp>
      <p:pic>
        <p:nvPicPr>
          <p:cNvPr id="5" name="S8_Initial_Comparison">
            <a:extLst>
              <a:ext uri="{FF2B5EF4-FFF2-40B4-BE49-F238E27FC236}">
                <a16:creationId xmlns:a16="http://schemas.microsoft.com/office/drawing/2014/main" id="{D415AAAF-09A4-7F6B-3D13-D5ED6B22F1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13" y="1117600"/>
            <a:ext cx="3114274" cy="3200400"/>
          </a:xfrm>
          <a:prstGeom prst="rect">
            <a:avLst/>
          </a:prstGeom>
        </p:spPr>
      </p:pic>
      <p:sp>
        <p:nvSpPr>
          <p:cNvPr id="6" name="S8_Holdout_Label">
            <a:extLst>
              <a:ext uri="{FF2B5EF4-FFF2-40B4-BE49-F238E27FC236}">
                <a16:creationId xmlns:a16="http://schemas.microsoft.com/office/drawing/2014/main" id="{E791B1EB-7A38-A3B9-BBAD-5E4CF07C59D0}"/>
              </a:ext>
            </a:extLst>
          </p:cNvPr>
          <p:cNvSpPr txBox="1"/>
          <p:nvPr/>
        </p:nvSpPr>
        <p:spPr>
          <a:xfrm>
            <a:off x="4127500" y="914400"/>
            <a:ext cx="4191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CL" sz="820" b="1">
                <a:solidFill>
                  <a:srgbClr val="FF7900"/>
                </a:solidFill>
                <a:latin typeface="Arial" panose="020B0604020202020204" pitchFamily="34" charset="0"/>
              </a:rPr>
              <a:t>VALIDACIÓN EN HOLDOUT</a:t>
            </a:r>
          </a:p>
        </p:txBody>
      </p:sp>
      <p:pic>
        <p:nvPicPr>
          <p:cNvPr id="9" name="S8_Holdout_Comparison">
            <a:extLst>
              <a:ext uri="{FF2B5EF4-FFF2-40B4-BE49-F238E27FC236}">
                <a16:creationId xmlns:a16="http://schemas.microsoft.com/office/drawing/2014/main" id="{2BAB7BBA-F7A3-040C-66DA-B83AFB1760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1776" y="1117600"/>
            <a:ext cx="4182447" cy="2603500"/>
          </a:xfrm>
          <a:prstGeom prst="rect">
            <a:avLst/>
          </a:prstGeom>
        </p:spPr>
      </p:pic>
      <p:sp>
        <p:nvSpPr>
          <p:cNvPr id="10" name="S8_Separate_Fits">
            <a:extLst>
              <a:ext uri="{FF2B5EF4-FFF2-40B4-BE49-F238E27FC236}">
                <a16:creationId xmlns:a16="http://schemas.microsoft.com/office/drawing/2014/main" id="{1AF7B3E2-A548-A856-3C06-4EA1F81AC0FE}"/>
              </a:ext>
            </a:extLst>
          </p:cNvPr>
          <p:cNvSpPr txBox="1"/>
          <p:nvPr/>
        </p:nvSpPr>
        <p:spPr>
          <a:xfrm>
            <a:off x="4127500" y="3733800"/>
            <a:ext cx="419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780">
                <a:solidFill>
                  <a:srgbClr val="595959"/>
                </a:solidFill>
                <a:latin typeface="Arial" panose="020B0604020202020204" pitchFamily="34" charset="0"/>
              </a:rPr>
              <a:t>Ambas formulaciones fueron recalibradas por separado.</a:t>
            </a:r>
            <a:endParaRPr lang="es-CL" sz="780">
              <a:solidFill>
                <a:srgbClr val="595959"/>
              </a:solidFill>
              <a:latin typeface="Arial" panose="020B0604020202020204" pitchFamily="34" charset="0"/>
            </a:endParaRPr>
          </a:p>
        </p:txBody>
      </p:sp>
      <p:sp>
        <p:nvSpPr>
          <p:cNvPr id="11" name="S8_Main_Message_Box">
            <a:extLst>
              <a:ext uri="{FF2B5EF4-FFF2-40B4-BE49-F238E27FC236}">
                <a16:creationId xmlns:a16="http://schemas.microsoft.com/office/drawing/2014/main" id="{BE007B1C-4674-CB5E-AD67-F3816C2460F9}"/>
              </a:ext>
            </a:extLst>
          </p:cNvPr>
          <p:cNvSpPr/>
          <p:nvPr/>
        </p:nvSpPr>
        <p:spPr>
          <a:xfrm>
            <a:off x="4127500" y="3898900"/>
            <a:ext cx="4191000" cy="48260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S8_Main_Message">
            <a:extLst>
              <a:ext uri="{FF2B5EF4-FFF2-40B4-BE49-F238E27FC236}">
                <a16:creationId xmlns:a16="http://schemas.microsoft.com/office/drawing/2014/main" id="{6FE75B68-397F-3262-3A84-616043AB3EE3}"/>
              </a:ext>
            </a:extLst>
          </p:cNvPr>
          <p:cNvSpPr txBox="1"/>
          <p:nvPr/>
        </p:nvSpPr>
        <p:spPr>
          <a:xfrm>
            <a:off x="4279900" y="3962400"/>
            <a:ext cx="38862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870" b="1" dirty="0">
                <a:solidFill>
                  <a:srgbClr val="303030"/>
                </a:solidFill>
                <a:latin typeface="Arial" panose="020B0604020202020204" pitchFamily="34" charset="0"/>
              </a:rPr>
              <a:t>La liberación continua mejora varios casos de validación, especialmente en MN, pero no reduce el RMSE en todos los escenarios.</a:t>
            </a:r>
            <a:endParaRPr lang="es-CL" sz="870" b="1" dirty="0">
              <a:solidFill>
                <a:srgbClr val="30303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608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E000344-A8DA-822C-E0F4-5A67B7D3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>
            <a:extLst>
              <a:ext uri="{FF2B5EF4-FFF2-40B4-BE49-F238E27FC236}">
                <a16:creationId xmlns:a16="http://schemas.microsoft.com/office/drawing/2014/main" id="{845BD8A8-185D-A02E-22EC-D0C3D52AB8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66" y="4465874"/>
            <a:ext cx="1717349" cy="3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A00B15A-2EE1-B2B4-2D22-446C85CF84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3901" y="4398898"/>
            <a:ext cx="1236099" cy="4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>
            <a:extLst>
              <a:ext uri="{FF2B5EF4-FFF2-40B4-BE49-F238E27FC236}">
                <a16:creationId xmlns:a16="http://schemas.microsoft.com/office/drawing/2014/main" id="{B94329DE-C7BC-FA1B-F1FD-57E083FF30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3025" y="1119673"/>
            <a:ext cx="186975" cy="1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27449CFF-EC14-31E3-FC22-A4E4AB9F0857}"/>
              </a:ext>
            </a:extLst>
          </p:cNvPr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8" name="Google Shape;169;p24">
            <a:extLst>
              <a:ext uri="{FF2B5EF4-FFF2-40B4-BE49-F238E27FC236}">
                <a16:creationId xmlns:a16="http://schemas.microsoft.com/office/drawing/2014/main" id="{9DE88791-C543-FBE6-02EE-C2F402FD4E51}"/>
              </a:ext>
            </a:extLst>
          </p:cNvPr>
          <p:cNvSpPr txBox="1"/>
          <p:nvPr/>
        </p:nvSpPr>
        <p:spPr>
          <a:xfrm>
            <a:off x="495300" y="2413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0" tIns="0" rIns="0" bIns="0" anchor="t" anchorCtr="0">
            <a:noAutofit/>
          </a:bodyPr>
          <a:lstStyle/>
          <a:p>
            <a:pPr lvl="0"/>
            <a: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REPLICABILIDAD ENTRE MATRICES</a:t>
            </a:r>
            <a:b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</a:br>
            <a:r>
              <a:rPr lang="es-ES" sz="1600">
                <a:solidFill>
                  <a:srgbClr val="595959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¿LOS PARÁMETROS SON TRANSFERIBLES?</a:t>
            </a:r>
            <a:endParaRPr lang="es-CL" sz="1600" dirty="0">
              <a:solidFill>
                <a:srgbClr val="595959"/>
              </a:solidFill>
              <a:latin typeface="Lato Black" panose="020F0502020204030203" pitchFamily="34" charset="0"/>
              <a:ea typeface="Lato Black"/>
              <a:cs typeface="Lato Black"/>
              <a:sym typeface="Lato Black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9B86C1-6BB4-0849-CD86-6E4F5621AF51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74868" y="990600"/>
            <a:ext cx="5263763" cy="32766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44956E8-90E9-AF71-A5DE-A66E1127650A}"/>
              </a:ext>
            </a:extLst>
          </p:cNvPr>
          <p:cNvSpPr txBox="1"/>
          <p:nvPr/>
        </p:nvSpPr>
        <p:spPr>
          <a:xfrm>
            <a:off x="6159500" y="1028700"/>
            <a:ext cx="19812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s-CL" sz="1000" b="1">
                <a:solidFill>
                  <a:srgbClr val="FF7900"/>
                </a:solidFill>
                <a:latin typeface="Lato" panose="020F0502020204030203" pitchFamily="34" charset="0"/>
              </a:rPr>
              <a:t>RMSE [g L⁻¹ h⁻¹]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6352887-C08B-A349-F3A7-33369AEB6C6E}"/>
              </a:ext>
            </a:extLst>
          </p:cNvPr>
          <p:cNvSpPr/>
          <p:nvPr/>
        </p:nvSpPr>
        <p:spPr>
          <a:xfrm>
            <a:off x="6159500" y="1333500"/>
            <a:ext cx="1981200" cy="4191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MS → MS   0.245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B0542F7-E135-1B36-7CF5-8127CF8D5157}"/>
              </a:ext>
            </a:extLst>
          </p:cNvPr>
          <p:cNvSpPr/>
          <p:nvPr/>
        </p:nvSpPr>
        <p:spPr>
          <a:xfrm>
            <a:off x="6159500" y="1816100"/>
            <a:ext cx="1981200" cy="4191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MN → MN   0.318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AF03E5A-CB25-017E-B70E-1894FE22B1B3}"/>
              </a:ext>
            </a:extLst>
          </p:cNvPr>
          <p:cNvSpPr/>
          <p:nvPr/>
        </p:nvSpPr>
        <p:spPr>
          <a:xfrm>
            <a:off x="6159500" y="2298700"/>
            <a:ext cx="1981200" cy="4191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MN → MS   0.326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02536B6-AA24-B9BA-69F0-496A05B6BD55}"/>
              </a:ext>
            </a:extLst>
          </p:cNvPr>
          <p:cNvSpPr/>
          <p:nvPr/>
        </p:nvSpPr>
        <p:spPr>
          <a:xfrm>
            <a:off x="6159500" y="2781300"/>
            <a:ext cx="1981200" cy="4191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MS → MN   0.382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52BC18-BFCB-B4FA-6DD7-E34BAEF3E055}"/>
              </a:ext>
            </a:extLst>
          </p:cNvPr>
          <p:cNvSpPr txBox="1"/>
          <p:nvPr/>
        </p:nvSpPr>
        <p:spPr>
          <a:xfrm>
            <a:off x="6134100" y="3263900"/>
            <a:ext cx="20320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s-CL" sz="1050" b="1">
                <a:solidFill>
                  <a:srgbClr val="FF7900"/>
                </a:solidFill>
                <a:latin typeface="Lato" panose="020F0502020204030203" pitchFamily="34" charset="0"/>
              </a:rPr>
              <a:t>Transferencia asimétrica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B404D03-6F74-ABBB-B996-4E12172C54CF}"/>
              </a:ext>
            </a:extLst>
          </p:cNvPr>
          <p:cNvSpPr/>
          <p:nvPr/>
        </p:nvSpPr>
        <p:spPr>
          <a:xfrm>
            <a:off x="6096000" y="3568700"/>
            <a:ext cx="2108200" cy="6350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r>
              <a:rPr lang="es-ES" sz="1050" b="1">
                <a:solidFill>
                  <a:srgbClr val="303030"/>
                </a:solidFill>
                <a:latin typeface="Lato" panose="020F0502020204030203" pitchFamily="34" charset="0"/>
              </a:rPr>
              <a:t>La estructura transfiere parcialmente, pero los parámetros no son universales entre MS y MN.</a:t>
            </a:r>
            <a:endParaRPr lang="es-CL" sz="1050" b="1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845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E000344-A8DA-822C-E0F4-5A67B7D3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>
            <a:extLst>
              <a:ext uri="{FF2B5EF4-FFF2-40B4-BE49-F238E27FC236}">
                <a16:creationId xmlns:a16="http://schemas.microsoft.com/office/drawing/2014/main" id="{845BD8A8-185D-A02E-22EC-D0C3D52AB8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66" y="4465874"/>
            <a:ext cx="1717349" cy="3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A00B15A-2EE1-B2B4-2D22-446C85CF84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3901" y="4398898"/>
            <a:ext cx="1236099" cy="4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>
            <a:extLst>
              <a:ext uri="{FF2B5EF4-FFF2-40B4-BE49-F238E27FC236}">
                <a16:creationId xmlns:a16="http://schemas.microsoft.com/office/drawing/2014/main" id="{B94329DE-C7BC-FA1B-F1FD-57E083FF30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3025" y="1119673"/>
            <a:ext cx="186975" cy="1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27449CFF-EC14-31E3-FC22-A4E4AB9F0857}"/>
              </a:ext>
            </a:extLst>
          </p:cNvPr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8" name="Google Shape;169;p24">
            <a:extLst>
              <a:ext uri="{FF2B5EF4-FFF2-40B4-BE49-F238E27FC236}">
                <a16:creationId xmlns:a16="http://schemas.microsoft.com/office/drawing/2014/main" id="{9DE88791-C543-FBE6-02EE-C2F402FD4E51}"/>
              </a:ext>
            </a:extLst>
          </p:cNvPr>
          <p:cNvSpPr txBox="1"/>
          <p:nvPr/>
        </p:nvSpPr>
        <p:spPr>
          <a:xfrm>
            <a:off x="495300" y="2413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0" tIns="0" rIns="0" bIns="0" anchor="t" anchorCtr="0">
            <a:noAutofit/>
          </a:bodyPr>
          <a:lstStyle/>
          <a:p>
            <a:pPr lvl="0"/>
            <a: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CAPACIDAD DE CALIBRACIÓN CON SOLO CO₂ ONLINE</a:t>
            </a:r>
            <a:b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</a:br>
            <a:r>
              <a:rPr lang="es-ES" sz="1600">
                <a:solidFill>
                  <a:srgbClr val="595959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IMPLICANCIAS PARA EL MODELO DE ESTADOS</a:t>
            </a:r>
            <a:endParaRPr lang="es-CL" sz="1600" dirty="0">
              <a:solidFill>
                <a:srgbClr val="595959"/>
              </a:solidFill>
              <a:latin typeface="Lato Black" panose="020F0502020204030203" pitchFamily="34" charset="0"/>
              <a:ea typeface="Lato Black"/>
              <a:cs typeface="Lato Black"/>
              <a:sym typeface="Lato Black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94E6305-17D1-6FC4-2E6A-8C41D953FAF8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" y="1185101"/>
            <a:ext cx="4127500" cy="2798698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C3EE0D3-D977-B699-646B-7074204A915F}"/>
              </a:ext>
            </a:extLst>
          </p:cNvPr>
          <p:cNvSpPr/>
          <p:nvPr/>
        </p:nvSpPr>
        <p:spPr>
          <a:xfrm>
            <a:off x="4749800" y="990600"/>
            <a:ext cx="3492500" cy="4572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ES" sz="1250" b="1">
                <a:solidFill>
                  <a:srgbClr val="303030"/>
                </a:solidFill>
                <a:latin typeface="Lato" panose="020F0502020204030203" pitchFamily="34" charset="0"/>
              </a:rPr>
              <a:t>Buen ajuste de y_CO₂ ≠ parámetros bien identificados</a:t>
            </a:r>
            <a:endParaRPr lang="es-CL" sz="1250" b="1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ABA81C2-86B3-F951-4E51-CA6536401E09}"/>
              </a:ext>
            </a:extLst>
          </p:cNvPr>
          <p:cNvSpPr/>
          <p:nvPr/>
        </p:nvSpPr>
        <p:spPr>
          <a:xfrm>
            <a:off x="4775200" y="1536700"/>
            <a:ext cx="1625600" cy="5461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sz="1150" b="1">
                <a:solidFill>
                  <a:srgbClr val="303030"/>
                </a:solidFill>
                <a:latin typeface="Lato" panose="020F0502020204030203" pitchFamily="34" charset="0"/>
              </a:rPr>
              <a:t>MN</a:t>
            </a:r>
            <a:br>
              <a:rPr lang="es-CL" sz="1150" b="1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es-CL" sz="1150" b="1">
                <a:solidFill>
                  <a:srgbClr val="303030"/>
                </a:solidFill>
                <a:latin typeface="Lato" panose="020F0502020204030203" pitchFamily="34" charset="0"/>
              </a:rPr>
              <a:t>cond(J) ≈ 129.9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30E2C4D-B0C7-1291-CEC8-14EAC6B7F7DA}"/>
              </a:ext>
            </a:extLst>
          </p:cNvPr>
          <p:cNvSpPr/>
          <p:nvPr/>
        </p:nvSpPr>
        <p:spPr>
          <a:xfrm>
            <a:off x="6540500" y="1536700"/>
            <a:ext cx="1701800" cy="5461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sz="1150" b="1">
                <a:solidFill>
                  <a:srgbClr val="303030"/>
                </a:solidFill>
                <a:latin typeface="Lato" panose="020F0502020204030203" pitchFamily="34" charset="0"/>
              </a:rPr>
              <a:t>MS</a:t>
            </a:r>
            <a:br>
              <a:rPr lang="es-CL" sz="1150" b="1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es-CL" sz="1150" b="1">
                <a:solidFill>
                  <a:srgbClr val="303030"/>
                </a:solidFill>
                <a:latin typeface="Lato" panose="020F0502020204030203" pitchFamily="34" charset="0"/>
              </a:rPr>
              <a:t>cond(J) ≈ 2.36×10¹¹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669CF2-E198-59EB-61D0-FF09C5978FBB}"/>
              </a:ext>
            </a:extLst>
          </p:cNvPr>
          <p:cNvSpPr txBox="1"/>
          <p:nvPr/>
        </p:nvSpPr>
        <p:spPr>
          <a:xfrm>
            <a:off x="4800600" y="2146300"/>
            <a:ext cx="33909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s-ES" sz="980" b="1">
                <a:solidFill>
                  <a:srgbClr val="595959"/>
                </a:solidFill>
                <a:latin typeface="Lato" panose="020F0502020204030203" pitchFamily="34" charset="0"/>
              </a:rPr>
              <a:t>Compensaciones: k_release · s_sat · O₂ · activación · ganancia</a:t>
            </a:r>
            <a:endParaRPr lang="es-CL" sz="980" b="1">
              <a:solidFill>
                <a:srgbClr val="595959"/>
              </a:solidFill>
              <a:latin typeface="Lato" panose="020F050202020403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96A1C9E-E71E-EE40-EEBF-3F2045D95F40}"/>
              </a:ext>
            </a:extLst>
          </p:cNvPr>
          <p:cNvSpPr/>
          <p:nvPr/>
        </p:nvSpPr>
        <p:spPr>
          <a:xfrm>
            <a:off x="4889500" y="2552700"/>
            <a:ext cx="3200400" cy="609600"/>
          </a:xfrm>
          <a:prstGeom prst="roundRect">
            <a:avLst/>
          </a:prstGeom>
          <a:solidFill>
            <a:srgbClr val="EDF7FC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endParaRPr lang="es-CL" sz="1300" b="1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0AC9E3E-5CB7-2238-3F2E-2C2EEA67868C}"/>
              </a:ext>
            </a:extLst>
          </p:cNvPr>
          <p:cNvSpPr txBox="1"/>
          <p:nvPr/>
        </p:nvSpPr>
        <p:spPr>
          <a:xfrm>
            <a:off x="4787900" y="3733800"/>
            <a:ext cx="34290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s-CL" sz="920">
                <a:solidFill>
                  <a:srgbClr val="303030"/>
                </a:solidFill>
                <a:latin typeface="Lato" panose="020F0502020204030203" pitchFamily="34" charset="0"/>
              </a:rPr>
              <a:t>2. O₂ sigue como estado auxiliar: falta decidir si entra al estimador o se simplifica.</a:t>
            </a:r>
          </a:p>
        </p:txBody>
      </p:sp>
      <p:sp>
        <p:nvSpPr>
          <p:cNvPr id="10" name="S7_Candidate_Label">
            <a:extLst>
              <a:ext uri="{FF2B5EF4-FFF2-40B4-BE49-F238E27FC236}">
                <a16:creationId xmlns:a16="http://schemas.microsoft.com/office/drawing/2014/main" id="{E2FA1F0A-8376-CC48-F978-A837394B6C0A}"/>
              </a:ext>
            </a:extLst>
          </p:cNvPr>
          <p:cNvSpPr txBox="1"/>
          <p:nvPr/>
        </p:nvSpPr>
        <p:spPr>
          <a:xfrm>
            <a:off x="5003800" y="2603500"/>
            <a:ext cx="876300" cy="30777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s-CL" sz="1150" b="1">
                <a:solidFill>
                  <a:srgbClr val="303030"/>
                </a:solidFill>
                <a:latin typeface="Lato" panose="020F0502020204030203" pitchFamily="34" charset="0"/>
              </a:rPr>
              <a:t>Candidato: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NativeEq_S7_state">
                <a:extLst>
                  <a:ext uri="{FF2B5EF4-FFF2-40B4-BE49-F238E27FC236}">
                    <a16:creationId xmlns:a16="http://schemas.microsoft.com/office/drawing/2014/main" id="{6612137A-CB95-AE65-7131-76EF767044E4}"/>
                  </a:ext>
                </a:extLst>
              </p:cNvPr>
              <p:cNvSpPr txBox="1"/>
              <p:nvPr/>
            </p:nvSpPr>
            <p:spPr>
              <a:xfrm>
                <a:off x="5829300" y="2552699"/>
                <a:ext cx="2133600" cy="3175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CL" sz="1250" i="1" smtClean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L" sz="125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L" sz="12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sepChr m:val=","/>
                              <m:ctrlPr>
                                <a:rPr lang="es-CL" sz="125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125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e>
                              <m:r>
                                <a:rPr lang="es-CL" sz="125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e>
                              <m:r>
                                <a:rPr lang="es-CL" sz="125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s-CL" sz="1250" i="1">
                                  <a:solidFill>
                                    <a:srgbClr val="30303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CL" sz="1250" i="1">
                                      <a:solidFill>
                                        <a:srgbClr val="30303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1250" i="1">
                                      <a:solidFill>
                                        <a:srgbClr val="30303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s-CL" sz="1250" i="1">
                                      <a:solidFill>
                                        <a:srgbClr val="30303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CL" sz="12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s-CL" sz="125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NativeEq_S7_state">
                <a:extLst>
                  <a:ext uri="{FF2B5EF4-FFF2-40B4-BE49-F238E27FC236}">
                    <a16:creationId xmlns:a16="http://schemas.microsoft.com/office/drawing/2014/main" id="{6612137A-CB95-AE65-7131-76EF76704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00" y="2552699"/>
                <a:ext cx="2133600" cy="3175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NativeEq_S7_sensor">
                <a:extLst>
                  <a:ext uri="{FF2B5EF4-FFF2-40B4-BE49-F238E27FC236}">
                    <a16:creationId xmlns:a16="http://schemas.microsoft.com/office/drawing/2014/main" id="{312FB76F-F27C-3EC7-A9C5-9C27E7C3D2FA}"/>
                  </a:ext>
                </a:extLst>
              </p:cNvPr>
              <p:cNvSpPr txBox="1"/>
              <p:nvPr/>
            </p:nvSpPr>
            <p:spPr>
              <a:xfrm>
                <a:off x="5461000" y="2844800"/>
                <a:ext cx="2159000" cy="2667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1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1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1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𝐶𝑂</m:t>
                          </m:r>
                          <m:r>
                            <a:rPr lang="es-CL" sz="1150" i="0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15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1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1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s-CL" sz="11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s-CL" sz="11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1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sz="1150" i="1">
                              <a:solidFill>
                                <a:srgbClr val="303030"/>
                              </a:solidFill>
                              <a:latin typeface="Cambria Math" panose="02040503050406030204" pitchFamily="18" charset="0"/>
                            </a:rPr>
                            <m:t>𝑔𝑎𝑠</m:t>
                          </m:r>
                        </m:sub>
                      </m:sSub>
                    </m:oMath>
                  </m:oMathPara>
                </a14:m>
                <a:endParaRPr lang="es-CL" sz="115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NativeEq_S7_sensor">
                <a:extLst>
                  <a:ext uri="{FF2B5EF4-FFF2-40B4-BE49-F238E27FC236}">
                    <a16:creationId xmlns:a16="http://schemas.microsoft.com/office/drawing/2014/main" id="{312FB76F-F27C-3EC7-A9C5-9C27E7C3D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2844800"/>
                <a:ext cx="2159000" cy="266700"/>
              </a:xfrm>
              <a:prstGeom prst="rect">
                <a:avLst/>
              </a:prstGeom>
              <a:blipFill>
                <a:blip r:embed="rId8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7_Decision1_Number">
            <a:extLst>
              <a:ext uri="{FF2B5EF4-FFF2-40B4-BE49-F238E27FC236}">
                <a16:creationId xmlns:a16="http://schemas.microsoft.com/office/drawing/2014/main" id="{3943F0EB-397C-AE62-2640-D3DF3C25F056}"/>
              </a:ext>
            </a:extLst>
          </p:cNvPr>
          <p:cNvSpPr txBox="1"/>
          <p:nvPr/>
        </p:nvSpPr>
        <p:spPr>
          <a:xfrm>
            <a:off x="4787900" y="3213100"/>
            <a:ext cx="190500" cy="30777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s-CL" sz="920">
                <a:solidFill>
                  <a:srgbClr val="303030"/>
                </a:solidFill>
                <a:latin typeface="Lato" panose="020F0502020204030203" pitchFamily="34" charset="0"/>
              </a:rPr>
              <a:t>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NativeEq_S7_sugar">
                <a:extLst>
                  <a:ext uri="{FF2B5EF4-FFF2-40B4-BE49-F238E27FC236}">
                    <a16:creationId xmlns:a16="http://schemas.microsoft.com/office/drawing/2014/main" id="{B4CFCFC7-9F7A-4CE8-9153-73B17581446E}"/>
                  </a:ext>
                </a:extLst>
              </p:cNvPr>
              <p:cNvSpPr txBox="1"/>
              <p:nvPr/>
            </p:nvSpPr>
            <p:spPr>
              <a:xfrm>
                <a:off x="4953000" y="3175000"/>
                <a:ext cx="863600" cy="292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CL" sz="1050" i="1" smtClean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CL" sz="105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1050" i="1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s-CL" sz="1050" i="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L" sz="1050" i="1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s-CL" sz="1050" dirty="0">
                  <a:solidFill>
                    <a:srgbClr val="30303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NativeEq_S7_sugar">
                <a:extLst>
                  <a:ext uri="{FF2B5EF4-FFF2-40B4-BE49-F238E27FC236}">
                    <a16:creationId xmlns:a16="http://schemas.microsoft.com/office/drawing/2014/main" id="{B4CFCFC7-9F7A-4CE8-9153-73B175814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175000"/>
                <a:ext cx="863600" cy="2921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7_Decision1_Text">
            <a:extLst>
              <a:ext uri="{FF2B5EF4-FFF2-40B4-BE49-F238E27FC236}">
                <a16:creationId xmlns:a16="http://schemas.microsoft.com/office/drawing/2014/main" id="{7A4AE216-7975-FC4D-4711-167833D1D6EB}"/>
              </a:ext>
            </a:extLst>
          </p:cNvPr>
          <p:cNvSpPr txBox="1"/>
          <p:nvPr/>
        </p:nvSpPr>
        <p:spPr>
          <a:xfrm>
            <a:off x="5816600" y="3187700"/>
            <a:ext cx="2400300" cy="30777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s-ES" sz="860">
                <a:solidFill>
                  <a:srgbClr val="303030"/>
                </a:solidFill>
                <a:latin typeface="Lato" panose="020F0502020204030203" pitchFamily="34" charset="0"/>
              </a:rPr>
              <a:t>es algebraicamente válido, pero el modelo actual aún distingue G y F para cerrar las ecuaciones.</a:t>
            </a:r>
            <a:endParaRPr lang="es-CL" sz="860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633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E000344-A8DA-822C-E0F4-5A67B7D3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>
            <a:extLst>
              <a:ext uri="{FF2B5EF4-FFF2-40B4-BE49-F238E27FC236}">
                <a16:creationId xmlns:a16="http://schemas.microsoft.com/office/drawing/2014/main" id="{B94329DE-C7BC-FA1B-F1FD-57E083FF30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3025" y="1119673"/>
            <a:ext cx="186975" cy="1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27449CFF-EC14-31E3-FC22-A4E4AB9F0857}"/>
              </a:ext>
            </a:extLst>
          </p:cNvPr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8" name="Google Shape;169;p24">
            <a:extLst>
              <a:ext uri="{FF2B5EF4-FFF2-40B4-BE49-F238E27FC236}">
                <a16:creationId xmlns:a16="http://schemas.microsoft.com/office/drawing/2014/main" id="{9DE88791-C543-FBE6-02EE-C2F402FD4E51}"/>
              </a:ext>
            </a:extLst>
          </p:cNvPr>
          <p:cNvSpPr txBox="1"/>
          <p:nvPr/>
        </p:nvSpPr>
        <p:spPr>
          <a:xfrm>
            <a:off x="495300" y="241300"/>
            <a:ext cx="4985386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0" tIns="0" rIns="0" bIns="0" anchor="t" anchorCtr="0">
            <a:noAutofit/>
          </a:bodyPr>
          <a:lstStyle/>
          <a:p>
            <a:pPr lvl="0"/>
            <a:r>
              <a:rPr lang="es-ES" sz="1600" dirty="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SIGUIENTES PASOS</a:t>
            </a:r>
            <a:br>
              <a:rPr lang="es-ES" sz="1600" dirty="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</a:br>
            <a:r>
              <a:rPr lang="es-ES" sz="1600" dirty="0">
                <a:solidFill>
                  <a:srgbClr val="595959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HACIA UNA VALIDACIÓN EXPLORATORIA DEL EKF</a:t>
            </a:r>
            <a:endParaRPr lang="es-CL" sz="1600" dirty="0">
              <a:solidFill>
                <a:srgbClr val="595959"/>
              </a:solidFill>
              <a:latin typeface="Lato Black" panose="020F0502020204030203" pitchFamily="34" charset="0"/>
              <a:ea typeface="Lato Black"/>
              <a:cs typeface="Lato Black"/>
              <a:sym typeface="Lato Black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6A4370F-9C3E-F26A-DBF9-FF491B54BD02}"/>
              </a:ext>
            </a:extLst>
          </p:cNvPr>
          <p:cNvSpPr/>
          <p:nvPr/>
        </p:nvSpPr>
        <p:spPr>
          <a:xfrm>
            <a:off x="666839" y="1229031"/>
            <a:ext cx="2984500" cy="4318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Cerrar estructura mínima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4C2D422C-4E70-114C-89F8-67DE3261013A}"/>
              </a:ext>
            </a:extLst>
          </p:cNvPr>
          <p:cNvCxnSpPr/>
          <p:nvPr/>
        </p:nvCxnSpPr>
        <p:spPr>
          <a:xfrm>
            <a:off x="2159089" y="1686231"/>
            <a:ext cx="0" cy="101600"/>
          </a:xfrm>
          <a:prstGeom prst="straightConnector1">
            <a:avLst/>
          </a:prstGeom>
          <a:ln w="25400">
            <a:solidFill>
              <a:srgbClr val="FF7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5E61643-6AE5-85AB-B9EA-6A1FB49550C1}"/>
              </a:ext>
            </a:extLst>
          </p:cNvPr>
          <p:cNvSpPr/>
          <p:nvPr/>
        </p:nvSpPr>
        <p:spPr>
          <a:xfrm>
            <a:off x="666839" y="1838631"/>
            <a:ext cx="2984500" cy="4318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Analizar observabilidad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2E42C63-5D85-87AB-7067-D4A5815BCD85}"/>
              </a:ext>
            </a:extLst>
          </p:cNvPr>
          <p:cNvCxnSpPr/>
          <p:nvPr/>
        </p:nvCxnSpPr>
        <p:spPr>
          <a:xfrm>
            <a:off x="2159089" y="2295831"/>
            <a:ext cx="0" cy="101600"/>
          </a:xfrm>
          <a:prstGeom prst="straightConnector1">
            <a:avLst/>
          </a:prstGeom>
          <a:ln w="25400">
            <a:solidFill>
              <a:srgbClr val="FF7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B3B2373-6D9B-8564-694F-2C1CAA5E75A9}"/>
              </a:ext>
            </a:extLst>
          </p:cNvPr>
          <p:cNvSpPr/>
          <p:nvPr/>
        </p:nvSpPr>
        <p:spPr>
          <a:xfrm>
            <a:off x="666839" y="2448231"/>
            <a:ext cx="2984500" cy="4318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Definir parámetros fijos/calibrables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522A0DB-B7B2-FEA8-B686-BD0DD10584FA}"/>
              </a:ext>
            </a:extLst>
          </p:cNvPr>
          <p:cNvCxnSpPr/>
          <p:nvPr/>
        </p:nvCxnSpPr>
        <p:spPr>
          <a:xfrm>
            <a:off x="2159089" y="2905431"/>
            <a:ext cx="0" cy="101600"/>
          </a:xfrm>
          <a:prstGeom prst="straightConnector1">
            <a:avLst/>
          </a:prstGeom>
          <a:ln w="25400">
            <a:solidFill>
              <a:srgbClr val="FF7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D73BB6B-2C85-3B3F-3F9B-2EAAC0730B96}"/>
              </a:ext>
            </a:extLst>
          </p:cNvPr>
          <p:cNvSpPr/>
          <p:nvPr/>
        </p:nvSpPr>
        <p:spPr>
          <a:xfrm>
            <a:off x="666839" y="3057831"/>
            <a:ext cx="2984500" cy="4318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Implementar EKF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633217B2-BF66-F816-96BD-A4CC92A67D7D}"/>
              </a:ext>
            </a:extLst>
          </p:cNvPr>
          <p:cNvCxnSpPr/>
          <p:nvPr/>
        </p:nvCxnSpPr>
        <p:spPr>
          <a:xfrm>
            <a:off x="2159089" y="3515031"/>
            <a:ext cx="0" cy="101600"/>
          </a:xfrm>
          <a:prstGeom prst="straightConnector1">
            <a:avLst/>
          </a:prstGeom>
          <a:ln w="25400">
            <a:solidFill>
              <a:srgbClr val="FF7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24C28B6-FDFA-21F0-3F88-800A66AA4BA1}"/>
              </a:ext>
            </a:extLst>
          </p:cNvPr>
          <p:cNvSpPr/>
          <p:nvPr/>
        </p:nvSpPr>
        <p:spPr>
          <a:xfrm>
            <a:off x="666839" y="3667431"/>
            <a:ext cx="2984500" cy="4318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Validación independiente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7340097-87E9-CC33-7F3B-4FFD2083E4A7}"/>
              </a:ext>
            </a:extLst>
          </p:cNvPr>
          <p:cNvSpPr txBox="1"/>
          <p:nvPr/>
        </p:nvSpPr>
        <p:spPr>
          <a:xfrm>
            <a:off x="4428016" y="3667431"/>
            <a:ext cx="3815191" cy="292594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t">
            <a:noAutofit/>
          </a:bodyPr>
          <a:lstStyle/>
          <a:p>
            <a:r>
              <a:rPr lang="es-CL" sz="1200" b="1" dirty="0">
                <a:solidFill>
                  <a:srgbClr val="FF7900"/>
                </a:solidFill>
                <a:latin typeface="Lato Black" panose="020F0502020204030203" pitchFamily="34" charset="0"/>
              </a:rPr>
              <a:t>PLAN DE VALIDACIÓN EXPLORATORIO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4EE3927-B73B-AECF-56FB-C4FD090F73F7}"/>
              </a:ext>
            </a:extLst>
          </p:cNvPr>
          <p:cNvSpPr txBox="1"/>
          <p:nvPr/>
        </p:nvSpPr>
        <p:spPr>
          <a:xfrm>
            <a:off x="4267196" y="3883331"/>
            <a:ext cx="3827578" cy="29545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t">
            <a:noAutofit/>
          </a:bodyPr>
          <a:lstStyle/>
          <a:p>
            <a:r>
              <a:rPr lang="es-ES" sz="1100" dirty="0">
                <a:solidFill>
                  <a:srgbClr val="303030"/>
                </a:solidFill>
                <a:latin typeface="Lato" panose="020F0502020204030203" pitchFamily="34" charset="0"/>
              </a:rPr>
              <a:t>• Réplicas independientes y </a:t>
            </a:r>
            <a:r>
              <a:rPr lang="es-ES" sz="1100" dirty="0" err="1">
                <a:solidFill>
                  <a:srgbClr val="303030"/>
                </a:solidFill>
                <a:latin typeface="Lato" panose="020F0502020204030203" pitchFamily="34" charset="0"/>
              </a:rPr>
              <a:t>split</a:t>
            </a:r>
            <a:r>
              <a:rPr lang="es-ES" sz="1100" dirty="0">
                <a:solidFill>
                  <a:srgbClr val="303030"/>
                </a:solidFill>
                <a:latin typeface="Lato" panose="020F0502020204030203" pitchFamily="34" charset="0"/>
              </a:rPr>
              <a:t> calibración/validación</a:t>
            </a:r>
            <a:br>
              <a:rPr lang="es-ES" sz="1100" dirty="0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es-ES" sz="1100" dirty="0">
                <a:solidFill>
                  <a:srgbClr val="303030"/>
                </a:solidFill>
                <a:latin typeface="Lato" panose="020F0502020204030203" pitchFamily="34" charset="0"/>
              </a:rPr>
              <a:t>• MS y MN</a:t>
            </a:r>
            <a:br>
              <a:rPr lang="es-ES" sz="1100" dirty="0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es-ES" sz="1100" dirty="0">
                <a:solidFill>
                  <a:srgbClr val="303030"/>
                </a:solidFill>
                <a:latin typeface="Lato" panose="020F0502020204030203" pitchFamily="34" charset="0"/>
              </a:rPr>
              <a:t>• Condiciones iniciales y temperaturas diferentes</a:t>
            </a:r>
            <a:br>
              <a:rPr lang="es-ES" sz="1100" dirty="0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es-ES" sz="1100" dirty="0">
                <a:solidFill>
                  <a:srgbClr val="303030"/>
                </a:solidFill>
                <a:latin typeface="Lato" panose="020F0502020204030203" pitchFamily="34" charset="0"/>
              </a:rPr>
              <a:t>• Distintos tiempos y dosis de pulsos N</a:t>
            </a:r>
            <a:br>
              <a:rPr lang="es-ES" sz="1100" dirty="0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es-ES" sz="1100" dirty="0">
                <a:solidFill>
                  <a:srgbClr val="303030"/>
                </a:solidFill>
                <a:latin typeface="Lato" panose="020F0502020204030203" pitchFamily="34" charset="0"/>
              </a:rPr>
              <a:t>• Condiciones de operación no usadas en el ajuste</a:t>
            </a:r>
            <a:br>
              <a:rPr lang="es-ES" sz="1100" dirty="0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es-ES" sz="1100" dirty="0">
                <a:solidFill>
                  <a:srgbClr val="303030"/>
                </a:solidFill>
                <a:latin typeface="Lato" panose="020F0502020204030203" pitchFamily="34" charset="0"/>
              </a:rPr>
              <a:t>• Futuro: CO₂ disuelto y O₂ para separar mecanismos</a:t>
            </a:r>
            <a:endParaRPr lang="es-CL" sz="1100" dirty="0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C204DA0-C729-A060-3455-0203AC1D2B8E}"/>
              </a:ext>
            </a:extLst>
          </p:cNvPr>
          <p:cNvSpPr/>
          <p:nvPr/>
        </p:nvSpPr>
        <p:spPr>
          <a:xfrm>
            <a:off x="495300" y="4229465"/>
            <a:ext cx="3398274" cy="707103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ES" sz="1300" b="1" dirty="0">
                <a:solidFill>
                  <a:srgbClr val="303030"/>
                </a:solidFill>
                <a:latin typeface="Lato" panose="020F0502020204030203" pitchFamily="34" charset="0"/>
              </a:rPr>
              <a:t>Definir primero una estructura mínima suficientemente identificable; luego evaluar formalmente el EKF.</a:t>
            </a:r>
            <a:endParaRPr lang="es-CL" sz="1300" b="1" dirty="0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6FF6802-FC89-62F5-361A-50053F516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196" y="1033215"/>
            <a:ext cx="3679971" cy="242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1427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E9B333DB6BAEE4EACFEB140225CCCFA" ma:contentTypeVersion="16" ma:contentTypeDescription="Crear nuevo documento." ma:contentTypeScope="" ma:versionID="bdb8840123cb49a3be832d268ff3b682">
  <xsd:schema xmlns:xsd="http://www.w3.org/2001/XMLSchema" xmlns:xs="http://www.w3.org/2001/XMLSchema" xmlns:p="http://schemas.microsoft.com/office/2006/metadata/properties" xmlns:ns3="f19e3217-a665-4b27-994f-da5dd979666e" xmlns:ns4="3ecebc85-b0f0-441b-86c2-d3face5ec8eb" targetNamespace="http://schemas.microsoft.com/office/2006/metadata/properties" ma:root="true" ma:fieldsID="e15ac7cf1c1eeb8bfdcecf9ebef9706d" ns3:_="" ns4:_="">
    <xsd:import namespace="f19e3217-a665-4b27-994f-da5dd979666e"/>
    <xsd:import namespace="3ecebc85-b0f0-441b-86c2-d3face5ec8e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9e3217-a665-4b27-994f-da5dd97966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cebc85-b0f0-441b-86c2-d3face5ec8e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19e3217-a665-4b27-994f-da5dd979666e" xsi:nil="true"/>
  </documentManagement>
</p:properties>
</file>

<file path=customXml/itemProps1.xml><?xml version="1.0" encoding="utf-8"?>
<ds:datastoreItem xmlns:ds="http://schemas.openxmlformats.org/officeDocument/2006/customXml" ds:itemID="{8F5B4856-03DC-4822-9E60-9CD49D9D66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9e3217-a665-4b27-994f-da5dd979666e"/>
    <ds:schemaRef ds:uri="3ecebc85-b0f0-441b-86c2-d3face5ec8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CD582D-A3C1-4ABB-A3CD-D51AF3FADC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DF4B8C-B953-486F-999B-4EC19432A34B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elements/1.1/"/>
    <ds:schemaRef ds:uri="3ecebc85-b0f0-441b-86c2-d3face5ec8eb"/>
    <ds:schemaRef ds:uri="http://schemas.openxmlformats.org/package/2006/metadata/core-properties"/>
    <ds:schemaRef ds:uri="http://schemas.microsoft.com/office/infopath/2007/PartnerControls"/>
    <ds:schemaRef ds:uri="f19e3217-a665-4b27-994f-da5dd979666e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14951</TotalTime>
  <Words>782</Words>
  <Application>Microsoft Office PowerPoint</Application>
  <PresentationFormat>Presentación en pantalla (16:9)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Cambria Math</vt:lpstr>
      <vt:lpstr>Lato Black</vt:lpstr>
      <vt:lpstr>Lato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Donoso Alejandro Fred</dc:creator>
  <cp:lastModifiedBy>CLAUDIO ANTONIO RODRÍGUEZ VÁSQUEZ</cp:lastModifiedBy>
  <cp:revision>145</cp:revision>
  <dcterms:modified xsi:type="dcterms:W3CDTF">2026-08-27T14:50:26Z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0x0101007E9B333DB6BAEE4EACFEB140225CCCFA</vt:lpwstr>
  </property>
</Properties>
</file>