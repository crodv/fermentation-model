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3"/>
  </p:notesMasterIdLst>
  <p:sldIdLst>
    <p:sldId id="311" r:id="rId5"/>
    <p:sldId id="386" r:id="rId6"/>
    <p:sldId id="392" r:id="rId7"/>
    <p:sldId id="391" r:id="rId8"/>
    <p:sldId id="390" r:id="rId9"/>
    <p:sldId id="389" r:id="rId10"/>
    <p:sldId id="388" r:id="rId11"/>
    <p:sldId id="387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Black" panose="020F0502020204030203" pitchFamily="3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081">
          <p15:clr>
            <a:srgbClr val="9AA0A6"/>
          </p15:clr>
        </p15:guide>
        <p15:guide id="4" pos="170">
          <p15:clr>
            <a:srgbClr val="9AA0A6"/>
          </p15:clr>
        </p15:guide>
        <p15:guide id="5" orient="horz" pos="159">
          <p15:clr>
            <a:srgbClr val="9AA0A6"/>
          </p15:clr>
        </p15:guide>
        <p15:guide id="6" pos="5590">
          <p15:clr>
            <a:srgbClr val="9AA0A6"/>
          </p15:clr>
        </p15:guide>
        <p15:guide id="7" pos="595">
          <p15:clr>
            <a:srgbClr val="9AA0A6"/>
          </p15:clr>
        </p15:guide>
        <p15:guide id="8" pos="5171">
          <p15:clr>
            <a:srgbClr val="9AA0A6"/>
          </p15:clr>
        </p15:guide>
        <p15:guide id="9" pos="4479">
          <p15:clr>
            <a:srgbClr val="9AA0A6"/>
          </p15:clr>
        </p15:guide>
        <p15:guide id="10" orient="horz" pos="2891">
          <p15:clr>
            <a:srgbClr val="9AA0A6"/>
          </p15:clr>
        </p15:guide>
        <p15:guide id="11" orient="horz" pos="2778">
          <p15:clr>
            <a:srgbClr val="9AA0A6"/>
          </p15:clr>
        </p15:guide>
        <p15:guide id="12" pos="941">
          <p15:clr>
            <a:srgbClr val="9AA0A6"/>
          </p15:clr>
        </p15:guide>
        <p15:guide id="13" orient="horz" pos="718">
          <p15:clr>
            <a:srgbClr val="9AA0A6"/>
          </p15:clr>
        </p15:guide>
        <p15:guide id="14" orient="horz" pos="2510">
          <p15:clr>
            <a:srgbClr val="9AA0A6"/>
          </p15:clr>
        </p15:guide>
        <p15:guide id="15" pos="2721">
          <p15:clr>
            <a:srgbClr val="9AA0A6"/>
          </p15:clr>
        </p15:guide>
        <p15:guide id="16" orient="horz" pos="590">
          <p15:clr>
            <a:srgbClr val="9AA0A6"/>
          </p15:clr>
        </p15:guide>
        <p15:guide id="17" orient="horz" pos="357">
          <p15:clr>
            <a:srgbClr val="9AA0A6"/>
          </p15:clr>
        </p15:guide>
        <p15:guide id="18" orient="horz" pos="902">
          <p15:clr>
            <a:srgbClr val="9AA0A6"/>
          </p15:clr>
        </p15:guide>
        <p15:guide id="19" orient="horz" pos="510">
          <p15:clr>
            <a:srgbClr val="9AA0A6"/>
          </p15:clr>
        </p15:guide>
        <p15:guide id="20" pos="2380">
          <p15:clr>
            <a:srgbClr val="9AA0A6"/>
          </p15:clr>
        </p15:guide>
        <p15:guide id="21" pos="256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EF9B"/>
    <a:srgbClr val="00CC66"/>
    <a:srgbClr val="FF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EDC999-D7B0-4180-BC0A-7F948640C0C9}" v="1" dt="2026-04-28T21:03:50.747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70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691" y="72"/>
      </p:cViewPr>
      <p:guideLst>
        <p:guide orient="horz" pos="1620"/>
        <p:guide pos="2880"/>
        <p:guide orient="horz" pos="3081"/>
        <p:guide pos="170"/>
        <p:guide orient="horz" pos="159"/>
        <p:guide pos="5590"/>
        <p:guide pos="595"/>
        <p:guide pos="5171"/>
        <p:guide pos="4479"/>
        <p:guide orient="horz" pos="2891"/>
        <p:guide orient="horz" pos="2778"/>
        <p:guide pos="941"/>
        <p:guide orient="horz" pos="718"/>
        <p:guide orient="horz" pos="2510"/>
        <p:guide pos="2721"/>
        <p:guide orient="horz" pos="590"/>
        <p:guide orient="horz" pos="357"/>
        <p:guide orient="horz" pos="902"/>
        <p:guide orient="horz" pos="510"/>
        <p:guide pos="2380"/>
        <p:guide pos="25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974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CF2BB44-FAD6-5500-0F0B-D9FD6D3E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7dc0ec307_0_270:notes">
            <a:extLst>
              <a:ext uri="{FF2B5EF4-FFF2-40B4-BE49-F238E27FC236}">
                <a16:creationId xmlns:a16="http://schemas.microsoft.com/office/drawing/2014/main" id="{A52FC182-827D-4457-41BF-47DA9BD6A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b7dc0ec307_0_270:notes">
            <a:extLst>
              <a:ext uri="{FF2B5EF4-FFF2-40B4-BE49-F238E27FC236}">
                <a16:creationId xmlns:a16="http://schemas.microsoft.com/office/drawing/2014/main" id="{319E47DE-A377-C466-AC74-BFAEE749D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3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800" y="4420451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0300" y="4331924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216950"/>
            <a:ext cx="186975" cy="157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3945" y="658875"/>
            <a:ext cx="2658019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7DB9E-3E77-0CB1-354E-8ECC4A7D1408}"/>
              </a:ext>
            </a:extLst>
          </p:cNvPr>
          <p:cNvSpPr txBox="1"/>
          <p:nvPr/>
        </p:nvSpPr>
        <p:spPr>
          <a:xfrm>
            <a:off x="1535502" y="1117468"/>
            <a:ext cx="6072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Avances del modelo y la ecuación de CO</a:t>
            </a:r>
            <a:r>
              <a:rPr lang="es-ES" sz="11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 </a:t>
            </a:r>
            <a:r>
              <a:rPr lang="es-ES" sz="20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para el estimador de estados</a:t>
            </a:r>
            <a:endParaRPr lang="es-CL" sz="2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248D68C-24BE-0EDC-3B1D-B53ABD9D8896}"/>
              </a:ext>
            </a:extLst>
          </p:cNvPr>
          <p:cNvSpPr txBox="1"/>
          <p:nvPr/>
        </p:nvSpPr>
        <p:spPr>
          <a:xfrm>
            <a:off x="2286000" y="220260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L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CII – Viña Concha y Toro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A7E5DC8-9255-580D-487F-5762CDB9AFD3}"/>
              </a:ext>
            </a:extLst>
          </p:cNvPr>
          <p:cNvSpPr txBox="1"/>
          <p:nvPr/>
        </p:nvSpPr>
        <p:spPr>
          <a:xfrm>
            <a:off x="2234380" y="35944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L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Presentado por: Claudio Rodríguez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2E4EAC-2C24-942D-DF0D-56CF97C652E1}"/>
              </a:ext>
            </a:extLst>
          </p:cNvPr>
          <p:cNvSpPr txBox="1"/>
          <p:nvPr/>
        </p:nvSpPr>
        <p:spPr>
          <a:xfrm>
            <a:off x="2286000" y="39488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L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Universidad Técnica Federico Santa María</a:t>
            </a:r>
          </a:p>
        </p:txBody>
      </p:sp>
      <p:sp>
        <p:nvSpPr>
          <p:cNvPr id="10" name="Google Shape;169;p24">
            <a:extLst>
              <a:ext uri="{FF2B5EF4-FFF2-40B4-BE49-F238E27FC236}">
                <a16:creationId xmlns:a16="http://schemas.microsoft.com/office/drawing/2014/main" id="{7846A8CB-E21A-85FB-B040-9C6C4C4C60BB}"/>
              </a:ext>
            </a:extLst>
          </p:cNvPr>
          <p:cNvSpPr txBox="1"/>
          <p:nvPr/>
        </p:nvSpPr>
        <p:spPr>
          <a:xfrm>
            <a:off x="2647736" y="599205"/>
            <a:ext cx="3848528" cy="21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0" rIns="0" bIns="0" anchor="t" anchorCtr="0">
            <a:noAutofit/>
          </a:bodyPr>
          <a:lstStyle/>
          <a:p>
            <a:pPr lvl="0" algn="ctr"/>
            <a:r>
              <a:rPr lang="es-ES" sz="1600" dirty="0">
                <a:solidFill>
                  <a:srgbClr val="FF7900"/>
                </a:solidFill>
                <a:latin typeface="Lato Black"/>
                <a:ea typeface="Lato Black"/>
                <a:cs typeface="Lato Black"/>
                <a:sym typeface="Lato Black"/>
              </a:rPr>
              <a:t>Avance de Memoria</a:t>
            </a:r>
            <a:endParaRPr lang="es-CL" dirty="0">
              <a:solidFill>
                <a:schemeClr val="tx1">
                  <a:lumMod val="65000"/>
                  <a:lumOff val="35000"/>
                </a:schemeClr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DD0DF10-4259-669B-D8FE-8C3AB754B148}"/>
              </a:ext>
            </a:extLst>
          </p:cNvPr>
          <p:cNvCxnSpPr/>
          <p:nvPr/>
        </p:nvCxnSpPr>
        <p:spPr>
          <a:xfrm>
            <a:off x="1187266" y="2038746"/>
            <a:ext cx="6666229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56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INTEGRACIÓN DE CO₂ AL MODELO DINÁMICO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DE LA PRODUCCIÓN METABÓLICA A LA MEDICIÓN ONLINE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69DF55-1587-35C1-694E-5962BED76953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962815"/>
            <a:ext cx="5334000" cy="30019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882022-A079-5327-86FD-40653327EDB0}"/>
              </a:ext>
            </a:extLst>
          </p:cNvPr>
          <p:cNvSpPr txBox="1"/>
          <p:nvPr/>
        </p:nvSpPr>
        <p:spPr>
          <a:xfrm>
            <a:off x="5994400" y="1041400"/>
            <a:ext cx="2159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1100" b="1">
                <a:solidFill>
                  <a:srgbClr val="FF7900"/>
                </a:solidFill>
                <a:latin typeface="Lato Black" panose="020F0502020204030203" pitchFamily="34" charset="0"/>
              </a:rPr>
              <a:t>ECUACIONES ESENCIALES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66C3C8-88F3-9445-0E6E-1646C6943D25}"/>
              </a:ext>
            </a:extLst>
          </p:cNvPr>
          <p:cNvSpPr txBox="1"/>
          <p:nvPr/>
        </p:nvSpPr>
        <p:spPr>
          <a:xfrm>
            <a:off x="5905500" y="1333500"/>
            <a:ext cx="23622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pt-BR" sz="1150" b="1">
                <a:solidFill>
                  <a:srgbClr val="303030"/>
                </a:solidFill>
                <a:latin typeface="Lato" panose="020F0502020204030203" pitchFamily="34" charset="0"/>
              </a:rPr>
              <a:t>q_bio = [44.01/(2·46.07)] r_E</a:t>
            </a:r>
            <a:endParaRPr lang="es-CL" sz="11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33C496-C79F-9A7C-4F8D-8DA24E96A384}"/>
              </a:ext>
            </a:extLst>
          </p:cNvPr>
          <p:cNvSpPr txBox="1"/>
          <p:nvPr/>
        </p:nvSpPr>
        <p:spPr>
          <a:xfrm>
            <a:off x="5905500" y="1765300"/>
            <a:ext cx="23622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1250" b="1">
                <a:solidFill>
                  <a:srgbClr val="303030"/>
                </a:solidFill>
                <a:latin typeface="Lato" panose="020F0502020204030203" pitchFamily="34" charset="0"/>
              </a:rPr>
              <a:t>dC_d/dt = q_prod − q_gas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55DAAF7-4FBC-FD6B-4F47-A0D52806DAF2}"/>
              </a:ext>
            </a:extLst>
          </p:cNvPr>
          <p:cNvSpPr/>
          <p:nvPr/>
        </p:nvSpPr>
        <p:spPr>
          <a:xfrm>
            <a:off x="5943600" y="2336800"/>
            <a:ext cx="2298700" cy="13462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ES" sz="1150" b="1">
                <a:solidFill>
                  <a:srgbClr val="303030"/>
                </a:solidFill>
                <a:latin typeface="Lato" panose="020F0502020204030203" pitchFamily="34" charset="0"/>
              </a:rPr>
              <a:t>El caudalímetro no mide directamente la producción metabólica de CO₂: mide la salida gaseosa después de la acumulación y liberación.</a:t>
            </a:r>
            <a:endParaRPr lang="es-CL" sz="11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91A4CE5-6C07-61E8-ACB8-2D09FD7186A5}"/>
              </a:ext>
            </a:extLst>
          </p:cNvPr>
          <p:cNvSpPr txBox="1"/>
          <p:nvPr/>
        </p:nvSpPr>
        <p:spPr>
          <a:xfrm>
            <a:off x="5905500" y="3784600"/>
            <a:ext cx="23622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50" dirty="0">
                <a:solidFill>
                  <a:srgbClr val="595959"/>
                </a:solidFill>
                <a:latin typeface="Lato" panose="020F0502020204030203" pitchFamily="34" charset="0"/>
              </a:rPr>
              <a:t>O₂: bloque auxiliar que modifica </a:t>
            </a:r>
            <a:r>
              <a:rPr lang="es-CL" sz="950" dirty="0" err="1">
                <a:solidFill>
                  <a:srgbClr val="595959"/>
                </a:solidFill>
                <a:latin typeface="Lato" panose="020F0502020204030203" pitchFamily="34" charset="0"/>
              </a:rPr>
              <a:t>q_prod</a:t>
            </a:r>
            <a:r>
              <a:rPr lang="es-CL" sz="950" dirty="0">
                <a:solidFill>
                  <a:srgbClr val="595959"/>
                </a:solidFill>
                <a:latin typeface="Lato" panose="020F0502020204030203" pitchFamily="34" charset="0"/>
              </a:rPr>
              <a:t>; aún no se incorpora al vector candidato final.</a:t>
            </a:r>
          </a:p>
        </p:txBody>
      </p:sp>
    </p:spTree>
    <p:extLst>
      <p:ext uri="{BB962C8B-B14F-4D97-AF65-F5344CB8AC3E}">
        <p14:creationId xmlns:p14="http://schemas.microsoft.com/office/powerpoint/2010/main" val="279544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¿CO₂ ALGEBRAICO O ESTADO DINÁMICO?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EVIDENCIA DE MEMORIA ENTRE PRODUCCIÓN Y SENSOR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61D1D3-5FA4-324D-AF5C-D780AD3714EC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82600" y="1098550"/>
            <a:ext cx="5334000" cy="21336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7932D87-2FD4-2D81-7F6F-7C0ED7537242}"/>
              </a:ext>
            </a:extLst>
          </p:cNvPr>
          <p:cNvSpPr/>
          <p:nvPr/>
        </p:nvSpPr>
        <p:spPr>
          <a:xfrm>
            <a:off x="6070600" y="1117600"/>
            <a:ext cx="2159000" cy="8636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  <a:t>INSTANTÁNEO</a:t>
            </a:r>
            <a:b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  <a:t>RMSE ≈ 0.384 L/min</a:t>
            </a:r>
            <a:b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  <a:t>r ≈ 0.328</a:t>
            </a:r>
            <a:endParaRPr lang="es-CL" sz="120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BA1D797-25BA-0406-D5E0-717C25CCD6F1}"/>
              </a:ext>
            </a:extLst>
          </p:cNvPr>
          <p:cNvSpPr/>
          <p:nvPr/>
        </p:nvSpPr>
        <p:spPr>
          <a:xfrm>
            <a:off x="6070600" y="2146300"/>
            <a:ext cx="2159000" cy="8636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  <a:t>DINÁMICO SELECCIONADO</a:t>
            </a:r>
            <a:b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  <a:t>RMSE ≈ 0.240 L/min</a:t>
            </a:r>
            <a:b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pt-BR" sz="1200" b="1">
                <a:solidFill>
                  <a:srgbClr val="303030"/>
                </a:solidFill>
                <a:latin typeface="Lato" panose="020F0502020204030203" pitchFamily="34" charset="0"/>
              </a:rPr>
              <a:t>r ≈ 0.843</a:t>
            </a:r>
            <a:endParaRPr lang="es-CL" sz="120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56787E-A5CB-7D32-DC7E-42970125DBD4}"/>
              </a:ext>
            </a:extLst>
          </p:cNvPr>
          <p:cNvSpPr txBox="1"/>
          <p:nvPr/>
        </p:nvSpPr>
        <p:spPr>
          <a:xfrm>
            <a:off x="571500" y="3340100"/>
            <a:ext cx="3619500" cy="304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pt-BR" sz="1200" b="1">
                <a:solidFill>
                  <a:srgbClr val="595959"/>
                </a:solidFill>
                <a:latin typeface="Lato" panose="020F0502020204030203" pitchFamily="34" charset="0"/>
              </a:rPr>
              <a:t>Algebraico:  y_CO₂ ≈ q_prod(S,N,X,E)</a:t>
            </a:r>
            <a:endParaRPr lang="es-CL" sz="1200" b="1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CC5F3A-E963-B676-1389-D5BC77B4DABE}"/>
              </a:ext>
            </a:extLst>
          </p:cNvPr>
          <p:cNvSpPr txBox="1"/>
          <p:nvPr/>
        </p:nvSpPr>
        <p:spPr>
          <a:xfrm>
            <a:off x="4292600" y="3340100"/>
            <a:ext cx="3810000" cy="304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1200" b="1">
                <a:solidFill>
                  <a:srgbClr val="595959"/>
                </a:solidFill>
                <a:latin typeface="Lato" panose="020F0502020204030203" pitchFamily="34" charset="0"/>
              </a:rPr>
              <a:t>Dinámico:  dC_d/dt = q_prod − q_gas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0C2EEC9-3255-D2D1-1751-1B79A6BF7BF0}"/>
              </a:ext>
            </a:extLst>
          </p:cNvPr>
          <p:cNvSpPr/>
          <p:nvPr/>
        </p:nvSpPr>
        <p:spPr>
          <a:xfrm>
            <a:off x="1079500" y="3771900"/>
            <a:ext cx="66040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b="1">
                <a:solidFill>
                  <a:srgbClr val="303030"/>
                </a:solidFill>
                <a:latin typeface="Lato" panose="020F0502020204030203" pitchFamily="34" charset="0"/>
              </a:rPr>
              <a:t>La evidencia actual favorece conservar C_d como estado dinámico auxiliar.</a:t>
            </a:r>
          </a:p>
        </p:txBody>
      </p:sp>
    </p:spTree>
    <p:extLst>
      <p:ext uri="{BB962C8B-B14F-4D97-AF65-F5344CB8AC3E}">
        <p14:creationId xmlns:p14="http://schemas.microsoft.com/office/powerpoint/2010/main" val="38717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CALIBRACIÓN CON DATOS 2026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UN ÚNICO CONJUNTO DE PARÁMETROS POR MATRIZ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F5DECF-757D-5643-B6DB-E7976D9F6868}"/>
              </a:ext>
            </a:extLst>
          </p:cNvPr>
          <p:cNvSpPr txBox="1"/>
          <p:nvPr/>
        </p:nvSpPr>
        <p:spPr>
          <a:xfrm>
            <a:off x="546100" y="889000"/>
            <a:ext cx="26035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50" b="1">
                <a:solidFill>
                  <a:srgbClr val="FF7900"/>
                </a:solidFill>
                <a:latin typeface="Lato" panose="020F0502020204030203" pitchFamily="34" charset="0"/>
              </a:rPr>
              <a:t>MS · buen ajuste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D98D82-59E4-24CE-1E15-373441F93968}"/>
              </a:ext>
            </a:extLst>
          </p:cNvPr>
          <p:cNvSpPr txBox="1"/>
          <p:nvPr/>
        </p:nvSpPr>
        <p:spPr>
          <a:xfrm>
            <a:off x="3467100" y="889000"/>
            <a:ext cx="28194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50" b="1">
                <a:solidFill>
                  <a:srgbClr val="FF7900"/>
                </a:solidFill>
                <a:latin typeface="Lato" panose="020F0502020204030203" pitchFamily="34" charset="0"/>
              </a:rPr>
              <a:t>MS · discrepancia de amplitud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EAA2FF-8769-EF62-5237-D62067CB17D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52357" y="1143000"/>
            <a:ext cx="2441787" cy="13081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0E5DE3-8412-2E0D-78CD-F077B14AAC8D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77146" y="1143000"/>
            <a:ext cx="2161209" cy="1308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D5BDB1D-BC04-D92A-3325-78A0458F95E4}"/>
              </a:ext>
            </a:extLst>
          </p:cNvPr>
          <p:cNvSpPr txBox="1"/>
          <p:nvPr/>
        </p:nvSpPr>
        <p:spPr>
          <a:xfrm>
            <a:off x="546100" y="2476500"/>
            <a:ext cx="26035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50" b="1">
                <a:solidFill>
                  <a:srgbClr val="FF7900"/>
                </a:solidFill>
                <a:latin typeface="Lato" panose="020F0502020204030203" pitchFamily="34" charset="0"/>
              </a:rPr>
              <a:t>MN · buen ajuste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5E25F17-04AA-3073-93CE-D9524BDCEE01}"/>
              </a:ext>
            </a:extLst>
          </p:cNvPr>
          <p:cNvSpPr txBox="1"/>
          <p:nvPr/>
        </p:nvSpPr>
        <p:spPr>
          <a:xfrm>
            <a:off x="3467100" y="2476500"/>
            <a:ext cx="28194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50" b="1">
                <a:solidFill>
                  <a:srgbClr val="FF7900"/>
                </a:solidFill>
                <a:latin typeface="Lato" panose="020F0502020204030203" pitchFamily="34" charset="0"/>
              </a:rPr>
              <a:t>MN · discrepancia importante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4084551-5661-325D-4B7D-4EDFB75E0879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86694" y="2730500"/>
            <a:ext cx="2173111" cy="1397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F317B5C-3152-0ACE-1C46-28410EC25062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665361" y="2826474"/>
            <a:ext cx="2359378" cy="1397000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712E956-67F1-86E0-566E-9F5E96804683}"/>
              </a:ext>
            </a:extLst>
          </p:cNvPr>
          <p:cNvSpPr/>
          <p:nvPr/>
        </p:nvSpPr>
        <p:spPr>
          <a:xfrm>
            <a:off x="6604000" y="1092200"/>
            <a:ext cx="14986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l-GR" sz="1700" b="1">
                <a:solidFill>
                  <a:srgbClr val="303030"/>
                </a:solidFill>
                <a:latin typeface="Lato" panose="020F0502020204030203" pitchFamily="34" charset="0"/>
              </a:rPr>
              <a:t>θ_</a:t>
            </a:r>
            <a:r>
              <a:rPr lang="es-CL" sz="1700" b="1">
                <a:solidFill>
                  <a:srgbClr val="303030"/>
                </a:solidFill>
                <a:latin typeface="Lato" panose="020F0502020204030203" pitchFamily="34" charset="0"/>
              </a:rPr>
              <a:t>MS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E6E5323-23F8-9E78-E451-C26A67F4D962}"/>
              </a:ext>
            </a:extLst>
          </p:cNvPr>
          <p:cNvSpPr txBox="1"/>
          <p:nvPr/>
        </p:nvSpPr>
        <p:spPr>
          <a:xfrm>
            <a:off x="6540500" y="1524000"/>
            <a:ext cx="16256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ES" sz="950">
                <a:solidFill>
                  <a:srgbClr val="595959"/>
                </a:solidFill>
                <a:latin typeface="Lato" panose="020F0502020204030203" pitchFamily="34" charset="0"/>
              </a:rPr>
              <a:t>común a todos los DOE de calibración MS</a:t>
            </a:r>
            <a:endParaRPr lang="es-CL" sz="950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1AFFEA5-B898-4C88-5ACF-C1419A4080A6}"/>
              </a:ext>
            </a:extLst>
          </p:cNvPr>
          <p:cNvSpPr/>
          <p:nvPr/>
        </p:nvSpPr>
        <p:spPr>
          <a:xfrm>
            <a:off x="6604000" y="2070100"/>
            <a:ext cx="1498600" cy="431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l-GR" sz="1700" b="1">
                <a:solidFill>
                  <a:srgbClr val="303030"/>
                </a:solidFill>
                <a:latin typeface="Lato" panose="020F0502020204030203" pitchFamily="34" charset="0"/>
              </a:rPr>
              <a:t>θ_</a:t>
            </a:r>
            <a:r>
              <a:rPr lang="es-CL" sz="1700" b="1">
                <a:solidFill>
                  <a:srgbClr val="303030"/>
                </a:solidFill>
                <a:latin typeface="Lato" panose="020F0502020204030203" pitchFamily="34" charset="0"/>
              </a:rPr>
              <a:t>MN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CD90D6-923C-2DEC-9049-E669D27464BB}"/>
              </a:ext>
            </a:extLst>
          </p:cNvPr>
          <p:cNvSpPr txBox="1"/>
          <p:nvPr/>
        </p:nvSpPr>
        <p:spPr>
          <a:xfrm>
            <a:off x="6540500" y="2501900"/>
            <a:ext cx="16256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ES" sz="950">
                <a:solidFill>
                  <a:srgbClr val="595959"/>
                </a:solidFill>
                <a:latin typeface="Lato" panose="020F0502020204030203" pitchFamily="34" charset="0"/>
              </a:rPr>
              <a:t>común a todos los LAB de calibración MN</a:t>
            </a:r>
            <a:endParaRPr lang="es-CL" sz="950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E3F8995-7691-824E-0270-AE3EC7A48E53}"/>
              </a:ext>
            </a:extLst>
          </p:cNvPr>
          <p:cNvSpPr txBox="1"/>
          <p:nvPr/>
        </p:nvSpPr>
        <p:spPr>
          <a:xfrm>
            <a:off x="6436449" y="2918024"/>
            <a:ext cx="1778000" cy="7874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ES" sz="950" b="1" dirty="0">
                <a:solidFill>
                  <a:srgbClr val="303030"/>
                </a:solidFill>
                <a:latin typeface="Lato" panose="020F0502020204030203" pitchFamily="34" charset="0"/>
              </a:rPr>
              <a:t>Cambian condiciones iniciales, T, pulsos y trayectorias </a:t>
            </a:r>
            <a:r>
              <a:rPr lang="es-ES" sz="950" b="1" dirty="0" err="1">
                <a:solidFill>
                  <a:srgbClr val="303030"/>
                </a:solidFill>
                <a:latin typeface="Lato" panose="020F0502020204030203" pitchFamily="34" charset="0"/>
              </a:rPr>
              <a:t>upstream</a:t>
            </a:r>
            <a:r>
              <a:rPr lang="es-ES" sz="950" b="1" dirty="0">
                <a:solidFill>
                  <a:srgbClr val="303030"/>
                </a:solidFill>
                <a:latin typeface="Lato" panose="020F0502020204030203" pitchFamily="34" charset="0"/>
              </a:rPr>
              <a:t>; no los parámetros CO₂ por fermentación.</a:t>
            </a:r>
            <a:endParaRPr lang="es-CL" sz="950" b="1" dirty="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005AC19-2E02-0D26-1C76-CC8080A034DE}"/>
              </a:ext>
            </a:extLst>
          </p:cNvPr>
          <p:cNvSpPr txBox="1"/>
          <p:nvPr/>
        </p:nvSpPr>
        <p:spPr>
          <a:xfrm>
            <a:off x="6451600" y="3822700"/>
            <a:ext cx="1778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870">
                <a:solidFill>
                  <a:srgbClr val="595959"/>
                </a:solidFill>
                <a:latin typeface="Lato" panose="020F0502020204030203" pitchFamily="34" charset="0"/>
              </a:rPr>
              <a:t>Capa CO₂ condicionada al modelo upstream previamente calibrado.</a:t>
            </a:r>
          </a:p>
        </p:txBody>
      </p:sp>
    </p:spTree>
    <p:extLst>
      <p:ext uri="{BB962C8B-B14F-4D97-AF65-F5344CB8AC3E}">
        <p14:creationId xmlns:p14="http://schemas.microsoft.com/office/powerpoint/2010/main" val="179818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INTEGRACIÓN DE LOS PULSOS DE N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RESPUESTA DINÁMICA Y NO INSTANTÁNEA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1D264B-D3C0-052C-B345-CA66DFADD2D9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028832"/>
            <a:ext cx="3619500" cy="24381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185B35-A698-ABB2-84FF-F1F22BAF6EC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391585" y="990600"/>
            <a:ext cx="3599330" cy="251460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9A08500-8022-27DD-4822-B128937C860F}"/>
              </a:ext>
            </a:extLst>
          </p:cNvPr>
          <p:cNvSpPr/>
          <p:nvPr/>
        </p:nvSpPr>
        <p:spPr>
          <a:xfrm>
            <a:off x="609600" y="3606800"/>
            <a:ext cx="2794000" cy="4445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300" b="1">
                <a:solidFill>
                  <a:srgbClr val="303030"/>
                </a:solidFill>
                <a:latin typeface="Lato" panose="020F0502020204030203" pitchFamily="34" charset="0"/>
              </a:rPr>
              <a:t>N(t_N⁺) = N(t_N⁻) + </a:t>
            </a:r>
            <a:r>
              <a:rPr lang="el-GR" sz="1300" b="1">
                <a:solidFill>
                  <a:srgbClr val="303030"/>
                </a:solidFill>
                <a:latin typeface="Lato" panose="020F0502020204030203" pitchFamily="34" charset="0"/>
              </a:rPr>
              <a:t>Δ</a:t>
            </a:r>
            <a:r>
              <a:rPr lang="es-CL" sz="1300" b="1">
                <a:solidFill>
                  <a:srgbClr val="303030"/>
                </a:solidFill>
                <a:latin typeface="Lato" panose="020F0502020204030203" pitchFamily="34" charset="0"/>
              </a:rPr>
              <a:t>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CFD787C-3657-E1A2-CC43-F347BEEECE6C}"/>
              </a:ext>
            </a:extLst>
          </p:cNvPr>
          <p:cNvSpPr/>
          <p:nvPr/>
        </p:nvSpPr>
        <p:spPr>
          <a:xfrm>
            <a:off x="3505200" y="3606800"/>
            <a:ext cx="3048000" cy="4445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fr-FR" sz="1250" b="1">
                <a:solidFill>
                  <a:srgbClr val="303030"/>
                </a:solidFill>
                <a:latin typeface="Lato" panose="020F0502020204030203" pitchFamily="34" charset="0"/>
              </a:rPr>
              <a:t>f_N(t) = clip[(t−t_N)/t_rise, 0, 1]</a:t>
            </a:r>
            <a:endParaRPr lang="es-CL" sz="12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B711923-6533-ED77-68F6-BF64D4413201}"/>
              </a:ext>
            </a:extLst>
          </p:cNvPr>
          <p:cNvSpPr/>
          <p:nvPr/>
        </p:nvSpPr>
        <p:spPr>
          <a:xfrm>
            <a:off x="6629400" y="3606800"/>
            <a:ext cx="1625600" cy="4445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050" b="1">
                <a:solidFill>
                  <a:srgbClr val="303030"/>
                </a:solidFill>
                <a:latin typeface="Lato" panose="020F0502020204030203" pitchFamily="34" charset="0"/>
              </a:rPr>
              <a:t>t_rise,MS ≈ 37.0 h   |   t_rise,MN ≈ 64.7 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FD02BA-0C7C-A5E4-216F-C4E939C6982F}"/>
              </a:ext>
            </a:extLst>
          </p:cNvPr>
          <p:cNvSpPr txBox="1"/>
          <p:nvPr/>
        </p:nvSpPr>
        <p:spPr>
          <a:xfrm>
            <a:off x="1206500" y="4089400"/>
            <a:ext cx="64135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ES" sz="1050" b="1">
                <a:solidFill>
                  <a:srgbClr val="595959"/>
                </a:solidFill>
                <a:latin typeface="Lato" panose="020F0502020204030203" pitchFamily="34" charset="0"/>
              </a:rPr>
              <a:t>El pulso modifica causalmente las trayectorias upstream; su efecto sobre CO₂ se introduce gradualmente.</a:t>
            </a:r>
            <a:endParaRPr lang="es-CL" sz="1050" b="1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44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REPLICABILIDAD ENTRE MATRICES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¿LOS PARÁMETROS SON TRANSFERIBLES?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9B86C1-6BB4-0849-CD86-6E4F5621AF5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74868" y="990600"/>
            <a:ext cx="5263763" cy="32766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44956E8-90E9-AF71-A5DE-A66E1127650A}"/>
              </a:ext>
            </a:extLst>
          </p:cNvPr>
          <p:cNvSpPr txBox="1"/>
          <p:nvPr/>
        </p:nvSpPr>
        <p:spPr>
          <a:xfrm>
            <a:off x="6159500" y="1028700"/>
            <a:ext cx="19812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CL" sz="1000" b="1">
                <a:solidFill>
                  <a:srgbClr val="FF7900"/>
                </a:solidFill>
                <a:latin typeface="Lato" panose="020F0502020204030203" pitchFamily="34" charset="0"/>
              </a:rPr>
              <a:t>RMSE [g L⁻¹ h⁻¹]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6352887-C08B-A349-F3A7-33369AEB6C6E}"/>
              </a:ext>
            </a:extLst>
          </p:cNvPr>
          <p:cNvSpPr/>
          <p:nvPr/>
        </p:nvSpPr>
        <p:spPr>
          <a:xfrm>
            <a:off x="6159500" y="1333500"/>
            <a:ext cx="1981200" cy="4191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MS → MS   0.245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B0542F7-E135-1B36-7CF5-8127CF8D5157}"/>
              </a:ext>
            </a:extLst>
          </p:cNvPr>
          <p:cNvSpPr/>
          <p:nvPr/>
        </p:nvSpPr>
        <p:spPr>
          <a:xfrm>
            <a:off x="6159500" y="1816100"/>
            <a:ext cx="1981200" cy="4191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MN → MN   0.318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AF03E5A-CB25-017E-B70E-1894FE22B1B3}"/>
              </a:ext>
            </a:extLst>
          </p:cNvPr>
          <p:cNvSpPr/>
          <p:nvPr/>
        </p:nvSpPr>
        <p:spPr>
          <a:xfrm>
            <a:off x="6159500" y="2298700"/>
            <a:ext cx="1981200" cy="419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MN → MS   0.326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02536B6-AA24-B9BA-69F0-496A05B6BD55}"/>
              </a:ext>
            </a:extLst>
          </p:cNvPr>
          <p:cNvSpPr/>
          <p:nvPr/>
        </p:nvSpPr>
        <p:spPr>
          <a:xfrm>
            <a:off x="6159500" y="2781300"/>
            <a:ext cx="1981200" cy="419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MS → MN   0.382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52BC18-BFCB-B4FA-6DD7-E34BAEF3E055}"/>
              </a:ext>
            </a:extLst>
          </p:cNvPr>
          <p:cNvSpPr txBox="1"/>
          <p:nvPr/>
        </p:nvSpPr>
        <p:spPr>
          <a:xfrm>
            <a:off x="6134100" y="3263900"/>
            <a:ext cx="2032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CL" sz="1050" b="1">
                <a:solidFill>
                  <a:srgbClr val="FF7900"/>
                </a:solidFill>
                <a:latin typeface="Lato" panose="020F0502020204030203" pitchFamily="34" charset="0"/>
              </a:rPr>
              <a:t>Transferencia asimétrica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B404D03-6F74-ABBB-B996-4E12172C54CF}"/>
              </a:ext>
            </a:extLst>
          </p:cNvPr>
          <p:cNvSpPr/>
          <p:nvPr/>
        </p:nvSpPr>
        <p:spPr>
          <a:xfrm>
            <a:off x="6096000" y="3568700"/>
            <a:ext cx="2108200" cy="6350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r>
              <a:rPr lang="es-ES" sz="1050" b="1">
                <a:solidFill>
                  <a:srgbClr val="303030"/>
                </a:solidFill>
                <a:latin typeface="Lato" panose="020F0502020204030203" pitchFamily="34" charset="0"/>
              </a:rPr>
              <a:t>La estructura transfiere parcialmente, pero los parámetros no son universales entre MS y MN.</a:t>
            </a:r>
            <a:endParaRPr lang="es-CL" sz="10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84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CAPACIDAD DE CALIBRACIÓN CON SOLO CO₂ ONLINE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IMPLICANCIAS PARA EL MODELO DE ESTADOS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4E6305-17D1-6FC4-2E6A-8C41D953FAF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" y="1185101"/>
            <a:ext cx="4127500" cy="279869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C3EE0D3-D977-B699-646B-7074204A915F}"/>
              </a:ext>
            </a:extLst>
          </p:cNvPr>
          <p:cNvSpPr/>
          <p:nvPr/>
        </p:nvSpPr>
        <p:spPr>
          <a:xfrm>
            <a:off x="4749800" y="990600"/>
            <a:ext cx="3492500" cy="4572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ES" sz="1250" b="1">
                <a:solidFill>
                  <a:srgbClr val="303030"/>
                </a:solidFill>
                <a:latin typeface="Lato" panose="020F0502020204030203" pitchFamily="34" charset="0"/>
              </a:rPr>
              <a:t>Buen ajuste de y_CO₂ ≠ parámetros bien identificados</a:t>
            </a:r>
            <a:endParaRPr lang="es-CL" sz="125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ABA81C2-86B3-F951-4E51-CA6536401E09}"/>
              </a:ext>
            </a:extLst>
          </p:cNvPr>
          <p:cNvSpPr/>
          <p:nvPr/>
        </p:nvSpPr>
        <p:spPr>
          <a:xfrm>
            <a:off x="4775200" y="1536700"/>
            <a:ext cx="1625600" cy="546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MN</a:t>
            </a:r>
            <a:b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cond(J) ≈ 129.9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30E2C4D-B0C7-1291-CEC8-14EAC6B7F7DA}"/>
              </a:ext>
            </a:extLst>
          </p:cNvPr>
          <p:cNvSpPr/>
          <p:nvPr/>
        </p:nvSpPr>
        <p:spPr>
          <a:xfrm>
            <a:off x="6540500" y="1536700"/>
            <a:ext cx="1701800" cy="5461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MS</a:t>
            </a:r>
            <a:b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CL" sz="1150" b="1">
                <a:solidFill>
                  <a:srgbClr val="303030"/>
                </a:solidFill>
                <a:latin typeface="Lato" panose="020F0502020204030203" pitchFamily="34" charset="0"/>
              </a:rPr>
              <a:t>cond(J) ≈ 2.36×10¹¹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669CF2-E198-59EB-61D0-FF09C5978FBB}"/>
              </a:ext>
            </a:extLst>
          </p:cNvPr>
          <p:cNvSpPr txBox="1"/>
          <p:nvPr/>
        </p:nvSpPr>
        <p:spPr>
          <a:xfrm>
            <a:off x="4800600" y="2146300"/>
            <a:ext cx="33909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pPr algn="ctr"/>
            <a:r>
              <a:rPr lang="es-ES" sz="980" b="1">
                <a:solidFill>
                  <a:srgbClr val="595959"/>
                </a:solidFill>
                <a:latin typeface="Lato" panose="020F0502020204030203" pitchFamily="34" charset="0"/>
              </a:rPr>
              <a:t>Compensaciones: k_release · s_sat · O₂ · activación · ganancia</a:t>
            </a:r>
            <a:endParaRPr lang="es-CL" sz="980" b="1">
              <a:solidFill>
                <a:srgbClr val="595959"/>
              </a:solidFill>
              <a:latin typeface="Lato" panose="020F050202020403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96A1C9E-E71E-EE40-EEBF-3F2045D95F40}"/>
              </a:ext>
            </a:extLst>
          </p:cNvPr>
          <p:cNvSpPr/>
          <p:nvPr/>
        </p:nvSpPr>
        <p:spPr>
          <a:xfrm>
            <a:off x="4889500" y="2552700"/>
            <a:ext cx="3200400" cy="609600"/>
          </a:xfrm>
          <a:prstGeom prst="roundRect">
            <a:avLst/>
          </a:prstGeom>
          <a:solidFill>
            <a:srgbClr val="EDF7FC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pt-BR" sz="1300" b="1" dirty="0">
                <a:solidFill>
                  <a:srgbClr val="303030"/>
                </a:solidFill>
                <a:latin typeface="Lato" panose="020F0502020204030203" pitchFamily="34" charset="0"/>
              </a:rPr>
              <a:t>Candidato:  x = [S, N, X, E, </a:t>
            </a:r>
            <a:r>
              <a:rPr lang="pt-BR" sz="1300" b="1" dirty="0" err="1">
                <a:solidFill>
                  <a:srgbClr val="303030"/>
                </a:solidFill>
                <a:latin typeface="Lato" panose="020F0502020204030203" pitchFamily="34" charset="0"/>
              </a:rPr>
              <a:t>C_d</a:t>
            </a:r>
            <a:r>
              <a:rPr lang="pt-BR" sz="1300" b="1" dirty="0">
                <a:solidFill>
                  <a:srgbClr val="303030"/>
                </a:solidFill>
                <a:latin typeface="Lato" panose="020F0502020204030203" pitchFamily="34" charset="0"/>
              </a:rPr>
              <a:t>]ᵀ</a:t>
            </a:r>
            <a:br>
              <a:rPr lang="pt-BR" sz="1300" b="1" dirty="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pt-BR" sz="1300" b="1" dirty="0" err="1">
                <a:solidFill>
                  <a:srgbClr val="303030"/>
                </a:solidFill>
                <a:latin typeface="Lato" panose="020F0502020204030203" pitchFamily="34" charset="0"/>
              </a:rPr>
              <a:t>y_CO</a:t>
            </a:r>
            <a:r>
              <a:rPr lang="pt-BR" sz="1300" b="1" dirty="0">
                <a:solidFill>
                  <a:srgbClr val="303030"/>
                </a:solidFill>
                <a:latin typeface="Lato" panose="020F0502020204030203" pitchFamily="34" charset="0"/>
              </a:rPr>
              <a:t>₂ = </a:t>
            </a:r>
            <a:r>
              <a:rPr lang="pt-BR" sz="1300" b="1" dirty="0" err="1">
                <a:solidFill>
                  <a:srgbClr val="303030"/>
                </a:solidFill>
                <a:latin typeface="Lato" panose="020F0502020204030203" pitchFamily="34" charset="0"/>
              </a:rPr>
              <a:t>g_m</a:t>
            </a:r>
            <a:r>
              <a:rPr lang="pt-BR" sz="1300" b="1" dirty="0">
                <a:solidFill>
                  <a:srgbClr val="303030"/>
                </a:solidFill>
                <a:latin typeface="Lato" panose="020F0502020204030203" pitchFamily="34" charset="0"/>
              </a:rPr>
              <a:t> </a:t>
            </a:r>
            <a:r>
              <a:rPr lang="pt-BR" sz="1300" b="1" dirty="0" err="1">
                <a:solidFill>
                  <a:srgbClr val="303030"/>
                </a:solidFill>
                <a:latin typeface="Lato" panose="020F0502020204030203" pitchFamily="34" charset="0"/>
              </a:rPr>
              <a:t>q_gas</a:t>
            </a:r>
            <a:endParaRPr lang="es-CL" sz="1300" b="1" dirty="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0B005FB-3F8A-8952-42DB-FA83945A54E2}"/>
              </a:ext>
            </a:extLst>
          </p:cNvPr>
          <p:cNvSpPr txBox="1"/>
          <p:nvPr/>
        </p:nvSpPr>
        <p:spPr>
          <a:xfrm>
            <a:off x="4800600" y="3317483"/>
            <a:ext cx="3429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ES" sz="920" dirty="0">
                <a:solidFill>
                  <a:srgbClr val="303030"/>
                </a:solidFill>
                <a:latin typeface="Lato" panose="020F0502020204030203" pitchFamily="34" charset="0"/>
              </a:rPr>
              <a:t>1. S = G+F es algebraicamente válido, pero el modelo actual aún distingue G y F para cerrar las ecuaciones.</a:t>
            </a:r>
            <a:endParaRPr lang="es-CL" sz="920" dirty="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AC9E3E-5CB7-2238-3F2E-2C2EEA67868C}"/>
              </a:ext>
            </a:extLst>
          </p:cNvPr>
          <p:cNvSpPr txBox="1"/>
          <p:nvPr/>
        </p:nvSpPr>
        <p:spPr>
          <a:xfrm>
            <a:off x="4800600" y="3683120"/>
            <a:ext cx="34290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ctr">
            <a:noAutofit/>
          </a:bodyPr>
          <a:lstStyle/>
          <a:p>
            <a:r>
              <a:rPr lang="es-CL" sz="920" dirty="0">
                <a:solidFill>
                  <a:srgbClr val="303030"/>
                </a:solidFill>
                <a:latin typeface="Lato" panose="020F0502020204030203" pitchFamily="34" charset="0"/>
              </a:rPr>
              <a:t>2. O₂ sigue como estado auxiliar: falta decidir si entra al estimador o se simplifica.</a:t>
            </a:r>
          </a:p>
        </p:txBody>
      </p:sp>
    </p:spTree>
    <p:extLst>
      <p:ext uri="{BB962C8B-B14F-4D97-AF65-F5344CB8AC3E}">
        <p14:creationId xmlns:p14="http://schemas.microsoft.com/office/powerpoint/2010/main" val="3281633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E000344-A8DA-822C-E0F4-5A67B7D3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>
            <a:extLst>
              <a:ext uri="{FF2B5EF4-FFF2-40B4-BE49-F238E27FC236}">
                <a16:creationId xmlns:a16="http://schemas.microsoft.com/office/drawing/2014/main" id="{845BD8A8-185D-A02E-22EC-D0C3D52AB8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66" y="4465874"/>
            <a:ext cx="1717349" cy="3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>
            <a:extLst>
              <a:ext uri="{FF2B5EF4-FFF2-40B4-BE49-F238E27FC236}">
                <a16:creationId xmlns:a16="http://schemas.microsoft.com/office/drawing/2014/main" id="{2A00B15A-2EE1-B2B4-2D22-446C85CF84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901" y="4398898"/>
            <a:ext cx="1236099" cy="4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>
            <a:extLst>
              <a:ext uri="{FF2B5EF4-FFF2-40B4-BE49-F238E27FC236}">
                <a16:creationId xmlns:a16="http://schemas.microsoft.com/office/drawing/2014/main" id="{B94329DE-C7BC-FA1B-F1FD-57E083FF30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3025" y="1119673"/>
            <a:ext cx="186975" cy="15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27449CFF-EC14-31E3-FC22-A4E4AB9F0857}"/>
              </a:ext>
            </a:extLst>
          </p:cNvPr>
          <p:cNvSpPr txBox="1"/>
          <p:nvPr/>
        </p:nvSpPr>
        <p:spPr>
          <a:xfrm>
            <a:off x="8425813" y="97350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7900"/>
              </a:buClr>
              <a:buSzPts val="1200"/>
              <a:buChar char="➔"/>
            </a:pPr>
            <a:endParaRPr>
              <a:solidFill>
                <a:srgbClr val="FF7900"/>
              </a:solidFill>
            </a:endParaRPr>
          </a:p>
        </p:txBody>
      </p:sp>
      <p:sp>
        <p:nvSpPr>
          <p:cNvPr id="8" name="Google Shape;169;p24">
            <a:extLst>
              <a:ext uri="{FF2B5EF4-FFF2-40B4-BE49-F238E27FC236}">
                <a16:creationId xmlns:a16="http://schemas.microsoft.com/office/drawing/2014/main" id="{9DE88791-C543-FBE6-02EE-C2F402FD4E51}"/>
              </a:ext>
            </a:extLst>
          </p:cNvPr>
          <p:cNvSpPr txBox="1"/>
          <p:nvPr/>
        </p:nvSpPr>
        <p:spPr>
          <a:xfrm>
            <a:off x="495300" y="2413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780" tIns="0" rIns="0" bIns="0" anchor="t" anchorCtr="0">
            <a:noAutofit/>
          </a:bodyPr>
          <a:lstStyle/>
          <a:p>
            <a:pPr lvl="0"/>
            <a: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SIGUIENTES PASOS</a:t>
            </a:r>
            <a:br>
              <a:rPr lang="es-ES" sz="1600">
                <a:solidFill>
                  <a:srgbClr val="FF7900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</a:br>
            <a:r>
              <a:rPr lang="es-ES" sz="1600">
                <a:solidFill>
                  <a:srgbClr val="595959"/>
                </a:solidFill>
                <a:latin typeface="Lato Black" panose="020F0502020204030203" pitchFamily="34" charset="0"/>
                <a:ea typeface="Lato Black"/>
                <a:cs typeface="Lato Black"/>
                <a:sym typeface="Lato Black"/>
              </a:rPr>
              <a:t>HACIA UNA VALIDACIÓN EXPLORATORIA DEL EKF</a:t>
            </a:r>
            <a:endParaRPr lang="es-CL" sz="1600" dirty="0">
              <a:solidFill>
                <a:srgbClr val="595959"/>
              </a:solidFill>
              <a:latin typeface="Lato Black" panose="020F0502020204030203" pitchFamily="34" charset="0"/>
              <a:ea typeface="Lato Black"/>
              <a:cs typeface="Lato Black"/>
              <a:sym typeface="Lato Black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6A4370F-9C3E-F26A-DBF9-FF491B54BD02}"/>
              </a:ext>
            </a:extLst>
          </p:cNvPr>
          <p:cNvSpPr/>
          <p:nvPr/>
        </p:nvSpPr>
        <p:spPr>
          <a:xfrm>
            <a:off x="698500" y="990600"/>
            <a:ext cx="29845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Cerrar estructura mínima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C2D422C-4E70-114C-89F8-67DE3261013A}"/>
              </a:ext>
            </a:extLst>
          </p:cNvPr>
          <p:cNvCxnSpPr/>
          <p:nvPr/>
        </p:nvCxnSpPr>
        <p:spPr>
          <a:xfrm>
            <a:off x="2190750" y="1447800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5E61643-6AE5-85AB-B9EA-6A1FB49550C1}"/>
              </a:ext>
            </a:extLst>
          </p:cNvPr>
          <p:cNvSpPr/>
          <p:nvPr/>
        </p:nvSpPr>
        <p:spPr>
          <a:xfrm>
            <a:off x="698500" y="1600200"/>
            <a:ext cx="2984500" cy="431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Analizar observabilidad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2E42C63-5D85-87AB-7067-D4A5815BCD85}"/>
              </a:ext>
            </a:extLst>
          </p:cNvPr>
          <p:cNvCxnSpPr/>
          <p:nvPr/>
        </p:nvCxnSpPr>
        <p:spPr>
          <a:xfrm>
            <a:off x="2190750" y="2057400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3B2373-6D9B-8564-694F-2C1CAA5E75A9}"/>
              </a:ext>
            </a:extLst>
          </p:cNvPr>
          <p:cNvSpPr/>
          <p:nvPr/>
        </p:nvSpPr>
        <p:spPr>
          <a:xfrm>
            <a:off x="698500" y="2209800"/>
            <a:ext cx="29845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Definir parámetros fijos/calibrables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522A0DB-B7B2-FEA8-B686-BD0DD10584FA}"/>
              </a:ext>
            </a:extLst>
          </p:cNvPr>
          <p:cNvCxnSpPr/>
          <p:nvPr/>
        </p:nvCxnSpPr>
        <p:spPr>
          <a:xfrm>
            <a:off x="2190750" y="2667000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D73BB6B-2C85-3B3F-3F9B-2EAAC0730B96}"/>
              </a:ext>
            </a:extLst>
          </p:cNvPr>
          <p:cNvSpPr/>
          <p:nvPr/>
        </p:nvSpPr>
        <p:spPr>
          <a:xfrm>
            <a:off x="698500" y="2819400"/>
            <a:ext cx="2984500" cy="4318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Implementar EKF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33217B2-BF66-F816-96BD-A4CC92A67D7D}"/>
              </a:ext>
            </a:extLst>
          </p:cNvPr>
          <p:cNvCxnSpPr/>
          <p:nvPr/>
        </p:nvCxnSpPr>
        <p:spPr>
          <a:xfrm>
            <a:off x="2190750" y="3276600"/>
            <a:ext cx="0" cy="101600"/>
          </a:xfrm>
          <a:prstGeom prst="straightConnector1">
            <a:avLst/>
          </a:prstGeom>
          <a:ln w="25400">
            <a:solidFill>
              <a:srgbClr val="FF7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24C28B6-FDFA-21F0-3F88-800A66AA4BA1}"/>
              </a:ext>
            </a:extLst>
          </p:cNvPr>
          <p:cNvSpPr/>
          <p:nvPr/>
        </p:nvSpPr>
        <p:spPr>
          <a:xfrm>
            <a:off x="698500" y="3429000"/>
            <a:ext cx="2984500" cy="4318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CL" sz="1200" b="1">
                <a:solidFill>
                  <a:srgbClr val="303030"/>
                </a:solidFill>
                <a:latin typeface="Lato" panose="020F0502020204030203" pitchFamily="34" charset="0"/>
              </a:rPr>
              <a:t>Validación independiente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7340097-87E9-CC33-7F3B-4FFD2083E4A7}"/>
              </a:ext>
            </a:extLst>
          </p:cNvPr>
          <p:cNvSpPr txBox="1"/>
          <p:nvPr/>
        </p:nvSpPr>
        <p:spPr>
          <a:xfrm>
            <a:off x="4254500" y="1016000"/>
            <a:ext cx="3911600" cy="304800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t">
            <a:noAutofit/>
          </a:bodyPr>
          <a:lstStyle/>
          <a:p>
            <a:r>
              <a:rPr lang="es-CL" sz="1200" b="1">
                <a:solidFill>
                  <a:srgbClr val="FF7900"/>
                </a:solidFill>
                <a:latin typeface="Lato Black" panose="020F0502020204030203" pitchFamily="34" charset="0"/>
              </a:rPr>
              <a:t>PLAN DE VALIDACIÓN EXPLORATORIO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4EE3927-B73B-AECF-56FB-C4FD090F73F7}"/>
              </a:ext>
            </a:extLst>
          </p:cNvPr>
          <p:cNvSpPr txBox="1"/>
          <p:nvPr/>
        </p:nvSpPr>
        <p:spPr>
          <a:xfrm>
            <a:off x="4241800" y="1371600"/>
            <a:ext cx="3924300" cy="307777"/>
          </a:xfrm>
          <a:prstGeom prst="rect">
            <a:avLst/>
          </a:prstGeom>
          <a:noFill/>
        </p:spPr>
        <p:txBody>
          <a:bodyPr vert="horz" wrap="square" lIns="38100" tIns="25400" rIns="38100" bIns="25400" rtlCol="0" anchor="t">
            <a:noAutofit/>
          </a:bodyPr>
          <a:lstStyle/>
          <a:p>
            <a: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  <a:t>• Réplicas independientes y split calibración/validación</a:t>
            </a:r>
            <a:b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  <a:t>• MS y MN</a:t>
            </a:r>
            <a:b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  <a:t>• Condiciones iniciales y temperaturas diferentes</a:t>
            </a:r>
            <a:b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  <a:t>• Distintos tiempos y dosis de pulsos N</a:t>
            </a:r>
            <a:b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  <a:t>• Condiciones de operación no usadas en el ajuste</a:t>
            </a:r>
            <a:b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</a:br>
            <a:r>
              <a:rPr lang="es-ES" sz="1100">
                <a:solidFill>
                  <a:srgbClr val="303030"/>
                </a:solidFill>
                <a:latin typeface="Lato" panose="020F0502020204030203" pitchFamily="34" charset="0"/>
              </a:rPr>
              <a:t>• Futuro: CO₂ disuelto y O₂ para separar mecanismos</a:t>
            </a:r>
            <a:endParaRPr lang="es-CL" sz="1100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C204DA0-C729-A060-3455-0203AC1D2B8E}"/>
              </a:ext>
            </a:extLst>
          </p:cNvPr>
          <p:cNvSpPr/>
          <p:nvPr/>
        </p:nvSpPr>
        <p:spPr>
          <a:xfrm>
            <a:off x="4233050" y="2882900"/>
            <a:ext cx="3898900" cy="736600"/>
          </a:xfrm>
          <a:prstGeom prst="roundRect">
            <a:avLst/>
          </a:prstGeom>
          <a:solidFill>
            <a:srgbClr val="FFF2E6"/>
          </a:solidFill>
          <a:ln w="15240">
            <a:solidFill>
              <a:srgbClr val="FF7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es-ES" sz="1300" b="1">
                <a:solidFill>
                  <a:srgbClr val="303030"/>
                </a:solidFill>
                <a:latin typeface="Lato" panose="020F0502020204030203" pitchFamily="34" charset="0"/>
              </a:rPr>
              <a:t>Definir primero una estructura mínima suficientemente identificable; luego evaluar formalmente el EKF.</a:t>
            </a:r>
            <a:endParaRPr lang="es-CL" sz="1300" b="1">
              <a:solidFill>
                <a:srgbClr val="303030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7142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9e3217-a665-4b27-994f-da5dd979666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E9B333DB6BAEE4EACFEB140225CCCFA" ma:contentTypeVersion="16" ma:contentTypeDescription="Crear nuevo documento." ma:contentTypeScope="" ma:versionID="bdb8840123cb49a3be832d268ff3b682">
  <xsd:schema xmlns:xsd="http://www.w3.org/2001/XMLSchema" xmlns:xs="http://www.w3.org/2001/XMLSchema" xmlns:p="http://schemas.microsoft.com/office/2006/metadata/properties" xmlns:ns3="f19e3217-a665-4b27-994f-da5dd979666e" xmlns:ns4="3ecebc85-b0f0-441b-86c2-d3face5ec8eb" targetNamespace="http://schemas.microsoft.com/office/2006/metadata/properties" ma:root="true" ma:fieldsID="e15ac7cf1c1eeb8bfdcecf9ebef9706d" ns3:_="" ns4:_="">
    <xsd:import namespace="f19e3217-a665-4b27-994f-da5dd979666e"/>
    <xsd:import namespace="3ecebc85-b0f0-441b-86c2-d3face5ec8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9e3217-a665-4b27-994f-da5dd9796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ebc85-b0f0-441b-86c2-d3face5ec8e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DF4B8C-B953-486F-999B-4EC19432A34B}">
  <ds:schemaRefs>
    <ds:schemaRef ds:uri="http://purl.org/dc/terms/"/>
    <ds:schemaRef ds:uri="http://purl.org/dc/elements/1.1/"/>
    <ds:schemaRef ds:uri="f19e3217-a665-4b27-994f-da5dd979666e"/>
    <ds:schemaRef ds:uri="http://schemas.microsoft.com/office/infopath/2007/PartnerControls"/>
    <ds:schemaRef ds:uri="http://schemas.openxmlformats.org/package/2006/metadata/core-properties"/>
    <ds:schemaRef ds:uri="3ecebc85-b0f0-441b-86c2-d3face5ec8eb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CD582D-A3C1-4ABB-A3CD-D51AF3FADC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5B4856-03DC-4822-9E60-9CD49D9D66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9e3217-a665-4b27-994f-da5dd979666e"/>
    <ds:schemaRef ds:uri="3ecebc85-b0f0-441b-86c2-d3face5ec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14910</TotalTime>
  <Words>652</Words>
  <Application>Microsoft Office PowerPoint</Application>
  <PresentationFormat>Presentación en pantalla (16:9)</PresentationFormat>
  <Paragraphs>58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Lato Black</vt:lpstr>
      <vt:lpstr>Lato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Donoso Alejandro Fred</dc:creator>
  <cp:lastModifiedBy>CLAUDIO ANTONIO RODRÍGUEZ VÁSQUEZ</cp:lastModifiedBy>
  <cp:revision>136</cp:revision>
  <dcterms:modified xsi:type="dcterms:W3CDTF">2026-08-26T20:57:33Z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0x0101007E9B333DB6BAEE4EACFEB140225CCCFA</vt:lpwstr>
  </property>
</Properties>
</file>